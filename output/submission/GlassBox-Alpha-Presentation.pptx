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f91ec13e614695" /><Relationship Type="http://schemas.openxmlformats.org/officeDocument/2006/relationships/extended-properties" Target="/docProps/app.xml" Id="R3582827eee5a4cbc" /><Relationship Type="http://schemas.openxmlformats.org/officeDocument/2006/relationships/officeDocument" Target="/ppt/presentation.xml" Id="R7c0e217ea13c4245" /></Relationships>
</file>

<file path=ppt/presentation.xml><?xml version="1.0" encoding="utf-8"?>
<p:presentation xmlns:p="http://schemas.openxmlformats.org/presentationml/2006/main">
  <p:sldMasterIdLst>
    <p:sldMasterId xmlns:r="http://schemas.openxmlformats.org/officeDocument/2006/relationships" id="2147483648" r:id="R0fb334bd76b54223"/>
  </p:sldMasterIdLst>
  <p:notesMasterIdLst>
    <p:notesMasterId xmlns:r="http://schemas.openxmlformats.org/officeDocument/2006/relationships" r:id="Rab1d62c209534da5"/>
  </p:notesMasterIdLst>
  <p:sldIdLst>
    <p:sldId xmlns:r="http://schemas.openxmlformats.org/officeDocument/2006/relationships" id="256" r:id="R9334ec5711304816"/>
    <p:sldId xmlns:r="http://schemas.openxmlformats.org/officeDocument/2006/relationships" id="257" r:id="Rd73644dac74447ee"/>
    <p:sldId xmlns:r="http://schemas.openxmlformats.org/officeDocument/2006/relationships" id="258" r:id="Rd4d43da80ad1460b"/>
    <p:sldId xmlns:r="http://schemas.openxmlformats.org/officeDocument/2006/relationships" id="259" r:id="R8e47030a93f44788"/>
    <p:sldId xmlns:r="http://schemas.openxmlformats.org/officeDocument/2006/relationships" id="260" r:id="R2eb95cc67de94b3c"/>
    <p:sldId xmlns:r="http://schemas.openxmlformats.org/officeDocument/2006/relationships" id="261" r:id="R391e879882494de5"/>
    <p:sldId xmlns:r="http://schemas.openxmlformats.org/officeDocument/2006/relationships" id="262" r:id="R68e37f9807c9469f"/>
    <p:sldId xmlns:r="http://schemas.openxmlformats.org/officeDocument/2006/relationships" id="263" r:id="Rfaf8bf890f4544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d449b40f944e41" /><Relationship Type="http://schemas.openxmlformats.org/officeDocument/2006/relationships/slideMaster" Target="/ppt/slideMasters/slideMaster1.xml" Id="R0fb334bd76b54223" /><Relationship Type="http://schemas.openxmlformats.org/officeDocument/2006/relationships/notesMaster" Target="/ppt/notesMasters/notesMaster1.xml" Id="Rab1d62c209534da5" /><Relationship Type="http://schemas.openxmlformats.org/officeDocument/2006/relationships/presProps" Target="/ppt/presProps.xml" Id="R55e40aa1e4ea425f" /><Relationship Type="http://schemas.openxmlformats.org/officeDocument/2006/relationships/tableStyles" Target="/ppt/tableStyles.xml" Id="Ra97a972ed6344920" /><Relationship Type="http://schemas.openxmlformats.org/officeDocument/2006/relationships/slide" Target="/ppt/slides/slide1.xml" Id="R9334ec5711304816" /><Relationship Type="http://schemas.openxmlformats.org/officeDocument/2006/relationships/slide" Target="/ppt/slides/slide2.xml" Id="Rd73644dac74447ee" /><Relationship Type="http://schemas.openxmlformats.org/officeDocument/2006/relationships/slide" Target="/ppt/slides/slide3.xml" Id="Rd4d43da80ad1460b" /><Relationship Type="http://schemas.openxmlformats.org/officeDocument/2006/relationships/slide" Target="/ppt/slides/slide4.xml" Id="R8e47030a93f44788" /><Relationship Type="http://schemas.openxmlformats.org/officeDocument/2006/relationships/slide" Target="/ppt/slides/slide5.xml" Id="R2eb95cc67de94b3c" /><Relationship Type="http://schemas.openxmlformats.org/officeDocument/2006/relationships/slide" Target="/ppt/slides/slide6.xml" Id="R391e879882494de5" /><Relationship Type="http://schemas.openxmlformats.org/officeDocument/2006/relationships/slide" Target="/ppt/slides/slide7.xml" Id="R68e37f9807c9469f" /><Relationship Type="http://schemas.openxmlformats.org/officeDocument/2006/relationships/slide" Target="/ppt/slides/slide8.xml" Id="Rfaf8bf890f4544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81dbe87a3b42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4e1cc050754f95" /><Relationship Type="http://schemas.openxmlformats.org/officeDocument/2006/relationships/notesMaster" Target="/ppt/notesMasters/notesMaster1.xml" Id="R8224a62f36824a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172b62b88c46c9" /><Relationship Type="http://schemas.openxmlformats.org/officeDocument/2006/relationships/notesMaster" Target="/ppt/notesMasters/notesMaster1.xml" Id="Ra775513c7f1d46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b5e02ddb2b4fd7" /><Relationship Type="http://schemas.openxmlformats.org/officeDocument/2006/relationships/notesMaster" Target="/ppt/notesMasters/notesMaster1.xml" Id="R05a17e86428949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df5a3c616c4fd8" /><Relationship Type="http://schemas.openxmlformats.org/officeDocument/2006/relationships/notesMaster" Target="/ppt/notesMasters/notesMaster1.xml" Id="R9b13ac2670ca42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2e16b3f781412f" /><Relationship Type="http://schemas.openxmlformats.org/officeDocument/2006/relationships/notesMaster" Target="/ppt/notesMasters/notesMaster1.xml" Id="R27dfbb9a82cd44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61cb84623f4974" /><Relationship Type="http://schemas.openxmlformats.org/officeDocument/2006/relationships/notesMaster" Target="/ppt/notesMasters/notesMaster1.xml" Id="Rad549314b4f74a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f614f56ba64e67" /><Relationship Type="http://schemas.openxmlformats.org/officeDocument/2006/relationships/notesMaster" Target="/ppt/notesMasters/notesMaster1.xml" Id="Rb8ca49fe33324e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5539aa5f2d4e9e" /><Relationship Type="http://schemas.openxmlformats.org/officeDocument/2006/relationships/notesMaster" Target="/ppt/notesMasters/notesMaster1.xml" Id="R30cf26828bb344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GlassBox Alpha is a paper-only autonomous options agent built on Alpaca. Its central design rule is simple: AI may reject a trade, but it can never rewrite one. This keeps model judgment useful while deterministic code retains financial authority.</a:t>
            </a:r>
          </a:p>
          <a:p xmlns:a="http://schemas.openxmlformats.org/drawingml/2006/main">
            <a:r>
              <a:t/>
            </a:r>
          </a:p>
          <a:p xmlns:a="http://schemas.openxmlformats.org/drawingml/2006/main">
            <a:r>
              <a:t>[Sources]</a:t>
            </a:r>
          </a:p>
          <a:p xmlns:a="http://schemas.openxmlformats.org/drawingml/2006/main">
            <a:r>
              <a:t>- Project README: D:/Python/GlassBoxAlpha/README.md</a:t>
            </a:r>
          </a:p>
          <a:p xmlns:a="http://schemas.openxmlformats.org/drawingml/2006/main">
            <a:r>
              <a:t>- Project architecture: D:/Python/GlassBoxAlpha/docs/ARCHITECTURE.md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Many trading agents let a language model choose the ticker, size, price, and execution action in one step. That creates an authority problem. GlassBox Alpha separates those responsibilities. Code constructs one bounded trade, the model receives veto-only access, and a separate risk kernel makes the final execution decision.</a:t>
            </a:r>
          </a:p>
          <a:p xmlns:a="http://schemas.openxmlformats.org/drawingml/2006/main">
            <a:r>
              <a:t/>
            </a:r>
          </a:p>
          <a:p xmlns:a="http://schemas.openxmlformats.org/drawingml/2006/main">
            <a:r>
              <a:t>[Sources]</a:t>
            </a:r>
          </a:p>
          <a:p xmlns:a="http://schemas.openxmlformats.org/drawingml/2006/main">
            <a:r>
              <a:t>- Project README: D:/Python/GlassBoxAlpha/README.md</a:t>
            </a:r>
          </a:p>
          <a:p xmlns:a="http://schemas.openxmlformats.org/drawingml/2006/main">
            <a:r>
              <a:t>- Risk design: D:/Python/GlassBoxAlpha/src/glassbox_alpha/risk.py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workflow starts with completed five-minute Alpaca bars. A deterministic feature engine measures trend, momentum, and RSI. The candidate factory then selects an exact SPY or QQQ long option or debit spread. The proposal is hashed before the critic sees it. After the critic, all thirty-two checks run again before any atomic paper order can be submitted.</a:t>
            </a:r>
          </a:p>
          <a:p xmlns:a="http://schemas.openxmlformats.org/drawingml/2006/main">
            <a:r>
              <a:t/>
            </a:r>
          </a:p>
          <a:p xmlns:a="http://schemas.openxmlformats.org/drawingml/2006/main">
            <a:r>
              <a:t>[Sources]</a:t>
            </a:r>
          </a:p>
          <a:p xmlns:a="http://schemas.openxmlformats.org/drawingml/2006/main">
            <a:r>
              <a:t>- Architecture: D:/Python/GlassBoxAlpha/docs/ARCHITECTURE.md</a:t>
            </a:r>
          </a:p>
          <a:p xmlns:a="http://schemas.openxmlformats.org/drawingml/2006/main">
            <a:r>
              <a:t>- Strategy implementation: D:/Python/GlassBoxAlpha/src/glassbox_alpha/strategy.py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AI critic has only two valid outputs: allow or veto. It cannot alter symbols, strikes, expiry, quantity, price, or maximum loss, and it has no order tool. Timeouts, malformed output, unsupported evidence, or a changed candidate identifier all become a veto. The model can reduce action, never expand it.</a:t>
            </a:r>
          </a:p>
          <a:p xmlns:a="http://schemas.openxmlformats.org/drawingml/2006/main">
            <a:r>
              <a:t/>
            </a:r>
          </a:p>
          <a:p xmlns:a="http://schemas.openxmlformats.org/drawingml/2006/main">
            <a:r>
              <a:t>[Sources]</a:t>
            </a:r>
          </a:p>
          <a:p xmlns:a="http://schemas.openxmlformats.org/drawingml/2006/main">
            <a:r>
              <a:t>- Critic implementation: D:/Python/GlassBoxAlpha/src/glassbox_alpha/critic.py</a:t>
            </a:r>
          </a:p>
          <a:p xmlns:a="http://schemas.openxmlformats.org/drawingml/2006/main">
            <a:r>
              <a:t>- Critic tests: D:/Python/GlassBoxAlpha/tests/test_core.py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The deterministic risk kernel contains thirty-two independently recorded checks. It recomputes trade economics instead of trusting the proposal, verifies the competition account and paper environment, enforces one percent total options exposure by default, and rejects stale or illiquid quotes. Any failed check produces abstain, with the observed value and limit preserved for review.</a:t>
            </a:r>
          </a:p>
          <a:p xmlns:a="http://schemas.openxmlformats.org/drawingml/2006/main">
            <a:r>
              <a:t/>
            </a:r>
          </a:p>
          <a:p xmlns:a="http://schemas.openxmlformats.org/drawingml/2006/main">
            <a:r>
              <a:t>[Sources]</a:t>
            </a:r>
          </a:p>
          <a:p xmlns:a="http://schemas.openxmlformats.org/drawingml/2006/main">
            <a:r>
              <a:t>- Risk kernel: D:/Python/GlassBoxAlpha/src/glassbox_alpha/risk.py</a:t>
            </a:r>
          </a:p>
          <a:p xmlns:a="http://schemas.openxmlformats.org/drawingml/2006/main">
            <a:r>
              <a:t>- Configuration defaults: D:/Python/GlassBoxAlpha/src/glassbox_alpha/config.py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Alpaca provides the account, clock, completed bars, option contracts, chain snapshots, and positions. Approved entries and exits use single atomic multi-leg limit orders through the official Alpaca CLI, with the SDK available as an explicit fallback. Live trading is absent from the codebase, and ambiguous broker responses engage a persistent kill switch until reconciliation.</a:t>
            </a:r>
          </a:p>
          <a:p xmlns:a="http://schemas.openxmlformats.org/drawingml/2006/main">
            <a:r>
              <a:t/>
            </a:r>
          </a:p>
          <a:p xmlns:a="http://schemas.openxmlformats.org/drawingml/2006/main">
            <a:r>
              <a:t>[Sources]</a:t>
            </a:r>
          </a:p>
          <a:p xmlns:a="http://schemas.openxmlformats.org/drawingml/2006/main">
            <a:r>
              <a:t>- Alpaca integration: D:/Python/GlassBoxAlpha/src/glassbox_alpha/broker.py</a:t>
            </a:r>
          </a:p>
          <a:p xmlns:a="http://schemas.openxmlformats.org/drawingml/2006/main">
            <a:r>
              <a:t>- Alpaca CLI docs: https://docs.alpaca.markets/us/docs/alpacas-cli</a:t>
            </a:r>
          </a:p>
          <a:p xmlns:a="http://schemas.openxmlformats.org/drawingml/2006/main">
            <a:r>
              <a:t>- Alpaca options docs: https://docs.alpaca.markets/us/docs/options-trading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Every cycle creates a Trade Passport. It records market evidence, the immutable candidate hash, the AI verdict, every risk observation, the order payload, and the outcome. Each record includes the previous record hash, so silent edits become detectable. The audit trail explains both why the agent acted and why it refused to act.</a:t>
            </a:r>
          </a:p>
          <a:p xmlns:a="http://schemas.openxmlformats.org/drawingml/2006/main">
            <a:r>
              <a:t/>
            </a:r>
          </a:p>
          <a:p xmlns:a="http://schemas.openxmlformats.org/drawingml/2006/main">
            <a:r>
              <a:t>[Sources]</a:t>
            </a:r>
          </a:p>
          <a:p xmlns:a="http://schemas.openxmlformats.org/drawingml/2006/main">
            <a:r>
              <a:t>- Audit implementation: D:/Python/GlassBoxAlpha/src/glassbox_alpha/audit.py</a:t>
            </a:r>
          </a:p>
          <a:p xmlns:a="http://schemas.openxmlformats.org/drawingml/2006/main">
            <a:r>
              <a:t>- Architecture: D:/Python/GlassBoxAlpha/docs/ARCHITECTURE.md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a:t>
            </a:r>
          </a:p>
          <a:p xmlns:a="http://schemas.openxmlformats.org/drawingml/2006/main">
            <a:r>
              <a:t>Judges can reproduce four credential-free scenarios: a clean approval, an AI veto, a stale quote, and an excessive spread. The project includes twenty-four automated tests, a verifiable audit chain, and a production-built decision replay. GlassBox Alpha is not a promise of returns. It is a verifiable boundary for using probabilistic AI in financial execution.</a:t>
            </a:r>
          </a:p>
          <a:p xmlns:a="http://schemas.openxmlformats.org/drawingml/2006/main">
            <a:r>
              <a:t/>
            </a:r>
          </a:p>
          <a:p xmlns:a="http://schemas.openxmlformats.org/drawingml/2006/main">
            <a:r>
              <a:t>[Sources]</a:t>
            </a:r>
          </a:p>
          <a:p xmlns:a="http://schemas.openxmlformats.org/drawingml/2006/main">
            <a:r>
              <a:t>- Automated tests: D:/Python/GlassBoxAlpha/tests/test_core.py</a:t>
            </a:r>
          </a:p>
          <a:p xmlns:a="http://schemas.openxmlformats.org/drawingml/2006/main">
            <a:r>
              <a:t>- Credential-free replay: D:/Python/GlassBoxAlpha/site/app/page.tsx</a:t>
            </a:r>
          </a:p>
          <a:p xmlns:a="http://schemas.openxmlformats.org/drawingml/2006/main">
            <a:r>
              <a:t>- Project README: D:/Python/GlassBoxAlpha/README.md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11591778aa44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b9a68042c5472f" /><Relationship Type="http://schemas.openxmlformats.org/officeDocument/2006/relationships/slideLayout" Target="/ppt/slideLayouts/slideLayout1.xml" Id="Rec10c8a0a70c41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10c8a0a70c41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76632531394dbe" /><Relationship Type="http://schemas.openxmlformats.org/officeDocument/2006/relationships/image" Target="/ppt/media/image.png" Id="Racae667288854be1" /><Relationship Type="http://schemas.openxmlformats.org/officeDocument/2006/relationships/notesSlide" Target="/ppt/notesSlides/notesSlide1.xml" Id="R3dfd2a82052c4f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57be1408e14e33" /><Relationship Type="http://schemas.openxmlformats.org/officeDocument/2006/relationships/notesSlide" Target="/ppt/notesSlides/notesSlide2.xml" Id="R2cff6052d0c548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d23e0a6e0446b5" /><Relationship Type="http://schemas.openxmlformats.org/officeDocument/2006/relationships/notesSlide" Target="/ppt/notesSlides/notesSlide3.xml" Id="Rfdbb9852b62544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52ad1cee994d9e" /><Relationship Type="http://schemas.openxmlformats.org/officeDocument/2006/relationships/notesSlide" Target="/ppt/notesSlides/notesSlide4.xml" Id="R6b41879ea59d4f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0e24e13bd8417f" /><Relationship Type="http://schemas.openxmlformats.org/officeDocument/2006/relationships/notesSlide" Target="/ppt/notesSlides/notesSlide5.xml" Id="R54b2da6f50e54e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8da25211aa4a83" /><Relationship Type="http://schemas.openxmlformats.org/officeDocument/2006/relationships/notesSlide" Target="/ppt/notesSlides/notesSlide6.xml" Id="R5c23de3b00ee48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c98d6c07424226" /><Relationship Type="http://schemas.openxmlformats.org/officeDocument/2006/relationships/notesSlide" Target="/ppt/notesSlides/notesSlide7.xml" Id="R67a5058f55bd4f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5aec497d39414c" /><Relationship Type="http://schemas.openxmlformats.org/officeDocument/2006/relationships/notesSlide" Target="/ppt/notesSlides/notesSlide8.xml" Id="R289ba258e17c4a7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i3ap53">
            <a:extLst xmlns:a="http://schemas.openxmlformats.org/drawingml/2006/main">
              <a:ext uri="{FF2B5EF4-FFF2-40B4-BE49-F238E27FC236}">
                <a16:creationId xmlns:a16="http://schemas.microsoft.com/office/drawing/2014/main" id="{A113BBD9-D149-4634-A0B6-CEC7B6A98FB7}"/>
              </a:ext>
            </a:extLst>
          </p:cNvPr>
          <p:cNvSpPr>
            <a:spLocks xmlns:a="http://schemas.openxmlformats.org/drawingml/2006/main" noGrp="1"/>
          </p:cNvSpPr>
          <p:nvPr/>
        </p:nvSpPr>
        <p:spPr>
          <a:xfrm xmlns:a="http://schemas.openxmlformats.org/drawingml/2006/main">
            <a:off x="533400" y="4572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a:solidFill>
                  <a:srgbClr val="2F80ED"/>
                </a:solidFill>
                <a:latin typeface="Arial"/>
                <a:ea typeface="Arial"/>
                <a:cs typeface="Arial"/>
              </a:defRPr>
            </a:pPr>
            <a:r>
              <a:rPr sz="1050" b="1">
                <a:solidFill>
                  <a:srgbClr val="2F80ED"/>
                </a:solidFill>
                <a:latin typeface="Arial"/>
                <a:ea typeface="Arial"/>
                <a:cs typeface="Arial"/>
              </a:rPr>
              <a:t>ALPACA AI TRADING AGENTS HACKATHON</a:t>
            </a:r>
          </a:p>
        </p:txBody>
      </p:sp>
      <p:sp>
        <p:nvSpPr>
          <p:cNvPr id="2" name="text-4oaztl">
            <a:extLst xmlns:a="http://schemas.openxmlformats.org/drawingml/2006/main">
              <a:ext uri="{FF2B5EF4-FFF2-40B4-BE49-F238E27FC236}">
                <a16:creationId xmlns:a16="http://schemas.microsoft.com/office/drawing/2014/main" id="{A56FF7F5-5F04-48AD-8F7D-15D0F65A63A7}"/>
              </a:ext>
            </a:extLst>
          </p:cNvPr>
          <p:cNvSpPr>
            <a:spLocks xmlns:a="http://schemas.openxmlformats.org/drawingml/2006/main" noGrp="1"/>
          </p:cNvSpPr>
          <p:nvPr/>
        </p:nvSpPr>
        <p:spPr>
          <a:xfrm xmlns:a="http://schemas.openxmlformats.org/drawingml/2006/main">
            <a:off x="533400" y="1428750"/>
            <a:ext cx="4953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800" b="1">
                <a:solidFill>
                  <a:srgbClr val="0B0D10"/>
                </a:solidFill>
                <a:latin typeface="Arial"/>
                <a:ea typeface="Arial"/>
                <a:cs typeface="Arial"/>
              </a:defRPr>
            </a:pPr>
            <a:r>
              <a:rPr sz="4800" b="1">
                <a:solidFill>
                  <a:srgbClr val="0B0D10"/>
                </a:solidFill>
                <a:latin typeface="Arial"/>
                <a:ea typeface="Arial"/>
                <a:cs typeface="Arial"/>
              </a:rPr>
              <a:t>GlassBox</a:t>
            </a:r>
          </a:p>
          <a:p xmlns:a="http://schemas.openxmlformats.org/drawingml/2006/main">
            <a:pPr algn="l">
              <a:defRPr sz="4800" b="1">
                <a:solidFill>
                  <a:srgbClr val="0B0D10"/>
                </a:solidFill>
                <a:latin typeface="Arial"/>
                <a:ea typeface="Arial"/>
                <a:cs typeface="Arial"/>
              </a:defRPr>
            </a:pPr>
            <a:r>
              <a:rPr sz="4800" b="1">
                <a:solidFill>
                  <a:srgbClr val="0B0D10"/>
                </a:solidFill>
                <a:latin typeface="Arial"/>
                <a:ea typeface="Arial"/>
                <a:cs typeface="Arial"/>
              </a:rPr>
              <a:t>Alpha</a:t>
            </a:r>
          </a:p>
        </p:txBody>
      </p:sp>
      <p:sp>
        <p:nvSpPr>
          <p:cNvPr id="3" name="text-oghynr">
            <a:extLst xmlns:a="http://schemas.openxmlformats.org/drawingml/2006/main">
              <a:ext uri="{FF2B5EF4-FFF2-40B4-BE49-F238E27FC236}">
                <a16:creationId xmlns:a16="http://schemas.microsoft.com/office/drawing/2014/main" id="{08A40F56-B5D0-4EC6-88DD-11463854DBE6}"/>
              </a:ext>
            </a:extLst>
          </p:cNvPr>
          <p:cNvSpPr>
            <a:spLocks xmlns:a="http://schemas.openxmlformats.org/drawingml/2006/main" noGrp="1"/>
          </p:cNvSpPr>
          <p:nvPr/>
        </p:nvSpPr>
        <p:spPr>
          <a:xfrm xmlns:a="http://schemas.openxmlformats.org/drawingml/2006/main">
            <a:off x="533400" y="32385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a:solidFill>
                  <a:srgbClr val="5B6470"/>
                </a:solidFill>
                <a:latin typeface="Arial"/>
                <a:ea typeface="Arial"/>
                <a:cs typeface="Arial"/>
              </a:defRPr>
            </a:pPr>
            <a:r>
              <a:rPr sz="2100" b="0">
                <a:solidFill>
                  <a:srgbClr val="5B6470"/>
                </a:solidFill>
                <a:latin typeface="Arial"/>
                <a:ea typeface="Arial"/>
                <a:cs typeface="Arial"/>
              </a:rPr>
              <a:t>A verifiable AI options agent</a:t>
            </a:r>
          </a:p>
        </p:txBody>
      </p:sp>
      <p:sp>
        <p:nvSpPr>
          <p:cNvPr id="4" name="text-rt06nk">
            <a:extLst xmlns:a="http://schemas.openxmlformats.org/drawingml/2006/main">
              <a:ext uri="{FF2B5EF4-FFF2-40B4-BE49-F238E27FC236}">
                <a16:creationId xmlns:a16="http://schemas.microsoft.com/office/drawing/2014/main" id="{BF0708A1-2471-46D1-8B47-E5E98BB4D7D2}"/>
              </a:ext>
            </a:extLst>
          </p:cNvPr>
          <p:cNvSpPr>
            <a:spLocks xmlns:a="http://schemas.openxmlformats.org/drawingml/2006/main" noGrp="1"/>
          </p:cNvSpPr>
          <p:nvPr/>
        </p:nvSpPr>
        <p:spPr>
          <a:xfrm xmlns:a="http://schemas.openxmlformats.org/drawingml/2006/main">
            <a:off x="533400" y="4400550"/>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0B0D10"/>
                </a:solidFill>
                <a:latin typeface="Arial"/>
                <a:ea typeface="Arial"/>
                <a:cs typeface="Arial"/>
              </a:defRPr>
            </a:pPr>
            <a:r>
              <a:rPr sz="2250" b="1">
                <a:solidFill>
                  <a:srgbClr val="0B0D10"/>
                </a:solidFill>
                <a:latin typeface="Arial"/>
                <a:ea typeface="Arial"/>
                <a:cs typeface="Arial"/>
              </a:rPr>
              <a:t>AI may veto.</a:t>
            </a:r>
          </a:p>
          <a:p xmlns:a="http://schemas.openxmlformats.org/drawingml/2006/main">
            <a:pPr algn="l">
              <a:defRPr sz="2250" b="1">
                <a:solidFill>
                  <a:srgbClr val="0B0D10"/>
                </a:solidFill>
                <a:latin typeface="Arial"/>
                <a:ea typeface="Arial"/>
                <a:cs typeface="Arial"/>
              </a:defRPr>
            </a:pPr>
            <a:r>
              <a:rPr sz="2250" b="1">
                <a:solidFill>
                  <a:srgbClr val="0B0D10"/>
                </a:solidFill>
                <a:latin typeface="Arial"/>
                <a:ea typeface="Arial"/>
                <a:cs typeface="Arial"/>
              </a:rPr>
              <a:t>It can never change the trade.</a:t>
            </a:r>
          </a:p>
        </p:txBody>
      </p:sp>
      <p:sp>
        <p:nvSpPr>
          <p:cNvPr id="5" name="box-2o26pk">
            <a:extLst xmlns:a="http://schemas.openxmlformats.org/drawingml/2006/main">
              <a:ext uri="{FF2B5EF4-FFF2-40B4-BE49-F238E27FC236}">
                <a16:creationId xmlns:a16="http://schemas.microsoft.com/office/drawing/2014/main" id="{CEB2ABB2-F6BC-479D-9507-BD855A8E883B}"/>
              </a:ext>
            </a:extLst>
          </p:cNvPr>
          <p:cNvSpPr>
            <a:spLocks xmlns:a="http://schemas.openxmlformats.org/drawingml/2006/main" noGrp="1"/>
          </p:cNvSpPr>
          <p:nvPr/>
        </p:nvSpPr>
        <p:spPr>
          <a:xfrm xmlns:a="http://schemas.openxmlformats.org/drawingml/2006/main">
            <a:off x="6134100" y="0"/>
            <a:ext cx="6057900" cy="6858000"/>
          </a:xfrm>
          <a:prstGeom xmlns:a="http://schemas.openxmlformats.org/drawingml/2006/main" prst="rect">
            <a:avLst/>
          </a:prstGeom>
          <a:solidFill xmlns:a="http://schemas.openxmlformats.org/drawingml/2006/main">
            <a:srgbClr val="0B0D10"/>
          </a:solidFill>
          <a:ln xmlns:a="http://schemas.openxmlformats.org/drawingml/2006/main" w="0">
            <a:solidFill>
              <a:srgbClr val="0B0D1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cae667288854be1"/>
          <a:stretch xmlns:a="http://schemas.openxmlformats.org/drawingml/2006/main"/>
        </p:blipFill>
        <p:spPr>
          <a:xfrm xmlns:a="http://schemas.openxmlformats.org/drawingml/2006/main">
            <a:off x="6438900" y="1115854"/>
            <a:ext cx="5219700" cy="2740343"/>
          </a:xfrm>
          <a:prstGeom xmlns:a="http://schemas.openxmlformats.org/drawingml/2006/main" prst="rect">
            <a:avLst/>
          </a:prstGeom>
        </p:spPr>
      </p:pic>
      <p:sp>
        <p:nvSpPr>
          <p:cNvPr id="7" name="text-cqv8nf">
            <a:extLst xmlns:a="http://schemas.openxmlformats.org/drawingml/2006/main">
              <a:ext uri="{FF2B5EF4-FFF2-40B4-BE49-F238E27FC236}">
                <a16:creationId xmlns:a16="http://schemas.microsoft.com/office/drawing/2014/main" id="{DCAAD807-77E4-457E-89BA-F200281F6724}"/>
              </a:ext>
            </a:extLst>
          </p:cNvPr>
          <p:cNvSpPr>
            <a:spLocks xmlns:a="http://schemas.openxmlformats.org/drawingml/2006/main" noGrp="1"/>
          </p:cNvSpPr>
          <p:nvPr/>
        </p:nvSpPr>
        <p:spPr>
          <a:xfrm xmlns:a="http://schemas.openxmlformats.org/drawingml/2006/main">
            <a:off x="6438900" y="46291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PAPER ONLY</a:t>
            </a:r>
          </a:p>
        </p:txBody>
      </p:sp>
      <p:sp>
        <p:nvSpPr>
          <p:cNvPr id="8" name="text-xm5h8s">
            <a:extLst xmlns:a="http://schemas.openxmlformats.org/drawingml/2006/main">
              <a:ext uri="{FF2B5EF4-FFF2-40B4-BE49-F238E27FC236}">
                <a16:creationId xmlns:a16="http://schemas.microsoft.com/office/drawing/2014/main" id="{19CB2D0C-7589-445F-A411-A1F0C0F2B874}"/>
              </a:ext>
            </a:extLst>
          </p:cNvPr>
          <p:cNvSpPr>
            <a:spLocks xmlns:a="http://schemas.openxmlformats.org/drawingml/2006/main" noGrp="1"/>
          </p:cNvSpPr>
          <p:nvPr/>
        </p:nvSpPr>
        <p:spPr>
          <a:xfrm xmlns:a="http://schemas.openxmlformats.org/drawingml/2006/main">
            <a:off x="6438900" y="5048250"/>
            <a:ext cx="4476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a:solidFill>
                  <a:srgbClr val="D8DEE7"/>
                </a:solidFill>
                <a:latin typeface="Arial"/>
                <a:ea typeface="Arial"/>
                <a:cs typeface="Arial"/>
              </a:defRPr>
            </a:pPr>
            <a:r>
              <a:rPr sz="1650" b="0">
                <a:solidFill>
                  <a:srgbClr val="D8DEE7"/>
                </a:solidFill>
                <a:latin typeface="Arial"/>
                <a:ea typeface="Arial"/>
                <a:cs typeface="Arial"/>
              </a:rPr>
              <a:t>SPY / QQQ defined-risk options</a:t>
            </a:r>
          </a:p>
          <a:p xmlns:a="http://schemas.openxmlformats.org/drawingml/2006/main">
            <a:pPr algn="l">
              <a:defRPr sz="1650" b="0">
                <a:solidFill>
                  <a:srgbClr val="D8DEE7"/>
                </a:solidFill>
                <a:latin typeface="Arial"/>
                <a:ea typeface="Arial"/>
                <a:cs typeface="Arial"/>
              </a:defRPr>
            </a:pPr>
            <a:r>
              <a:rPr sz="1650" b="0">
                <a:solidFill>
                  <a:srgbClr val="D8DEE7"/>
                </a:solidFill>
                <a:latin typeface="Arial"/>
                <a:ea typeface="Arial"/>
                <a:cs typeface="Arial"/>
              </a:rPr>
              <a:t>32 deterministic checks</a:t>
            </a:r>
          </a:p>
          <a:p xmlns:a="http://schemas.openxmlformats.org/drawingml/2006/main">
            <a:pPr algn="l">
              <a:defRPr sz="1650" b="0">
                <a:solidFill>
                  <a:srgbClr val="D8DEE7"/>
                </a:solidFill>
                <a:latin typeface="Arial"/>
                <a:ea typeface="Arial"/>
                <a:cs typeface="Arial"/>
              </a:defRPr>
            </a:pPr>
            <a:r>
              <a:rPr sz="1650" b="0">
                <a:solidFill>
                  <a:srgbClr val="D8DEE7"/>
                </a:solidFill>
                <a:latin typeface="Arial"/>
                <a:ea typeface="Arial"/>
                <a:cs typeface="Arial"/>
              </a:rPr>
              <a:t>Hash-chained Trade Passports</a:t>
            </a:r>
          </a:p>
        </p:txBody>
      </p:sp>
      <p:sp>
        <p:nvSpPr>
          <p:cNvPr id="9" name="text-8tvxkn">
            <a:extLst xmlns:a="http://schemas.openxmlformats.org/drawingml/2006/main">
              <a:ext uri="{FF2B5EF4-FFF2-40B4-BE49-F238E27FC236}">
                <a16:creationId xmlns:a16="http://schemas.microsoft.com/office/drawing/2014/main" id="{62885014-7BEF-496A-88FA-CAD28B06EF7E}"/>
              </a:ext>
            </a:extLst>
          </p:cNvPr>
          <p:cNvSpPr>
            <a:spLocks xmlns:a="http://schemas.openxmlformats.org/drawingml/2006/main" noGrp="1"/>
          </p:cNvSpPr>
          <p:nvPr/>
        </p:nvSpPr>
        <p:spPr>
          <a:xfrm xmlns:a="http://schemas.openxmlformats.org/drawingml/2006/main">
            <a:off x="11182350"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FFFFFF"/>
                </a:solidFill>
                <a:latin typeface="Arial"/>
                <a:ea typeface="Arial"/>
                <a:cs typeface="Arial"/>
              </a:defRPr>
            </a:pPr>
            <a:r>
              <a:rPr sz="1050" b="0">
                <a:solidFill>
                  <a:srgbClr val="FFFFFF"/>
                </a:solidFill>
                <a:latin typeface="Arial"/>
                <a:ea typeface="Arial"/>
                <a:cs typeface="Arial"/>
              </a:rPr>
              <a:t>01</a:t>
            </a:r>
          </a:p>
        </p:txBody>
      </p:sp>
    </p:spTree>
    <p:extLst>
      <p:ext uri="{BB962C8B-B14F-4D97-AF65-F5344CB8AC3E}">
        <p14:creationId xmlns:p14="http://schemas.microsoft.com/office/powerpoint/2010/main" val="13986180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2-title">
            <a:extLst xmlns:a="http://schemas.openxmlformats.org/drawingml/2006/main">
              <a:ext uri="{FF2B5EF4-FFF2-40B4-BE49-F238E27FC236}">
                <a16:creationId xmlns:a16="http://schemas.microsoft.com/office/drawing/2014/main" id="{487CA390-EFCA-40DE-AAE3-9A665C81C5A4}"/>
              </a:ext>
            </a:extLst>
          </p:cNvPr>
          <p:cNvSpPr>
            <a:spLocks xmlns:a="http://schemas.openxmlformats.org/drawingml/2006/main" noGrp="1"/>
          </p:cNvSpPr>
          <p:nvPr/>
        </p:nvSpPr>
        <p:spPr>
          <a:xfrm xmlns:a="http://schemas.openxmlformats.org/drawingml/2006/main">
            <a:off x="5334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0B0D10"/>
                </a:solidFill>
                <a:latin typeface="Arial"/>
                <a:ea typeface="Arial"/>
                <a:cs typeface="Arial"/>
              </a:defRPr>
            </a:pPr>
            <a:r>
              <a:rPr sz="3000" b="1">
                <a:solidFill>
                  <a:srgbClr val="0B0D10"/>
                </a:solidFill>
                <a:latin typeface="Arial"/>
                <a:ea typeface="Arial"/>
                <a:cs typeface="Arial"/>
              </a:rPr>
              <a:t>The core risk is unrestricted model authority</a:t>
            </a:r>
          </a:p>
        </p:txBody>
      </p:sp>
      <p:cxnSp>
        <p:nvCxnSpPr>
          <p:cNvPr id="14"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B8C0C8"/>
            </a:solidFill>
            <a:prstDash val="solid"/>
          </a:ln>
        </p:spPr>
      </p:cxnSp>
      <p:sp>
        <p:nvSpPr>
          <p:cNvPr id="3" name="text-mzkdyc">
            <a:extLst xmlns:a="http://schemas.openxmlformats.org/drawingml/2006/main">
              <a:ext uri="{FF2B5EF4-FFF2-40B4-BE49-F238E27FC236}">
                <a16:creationId xmlns:a16="http://schemas.microsoft.com/office/drawing/2014/main" id="{3C93B69F-7E5B-4C52-BB54-4643183ABB15}"/>
              </a:ext>
            </a:extLst>
          </p:cNvPr>
          <p:cNvSpPr>
            <a:spLocks xmlns:a="http://schemas.openxmlformats.org/drawingml/2006/main" noGrp="1"/>
          </p:cNvSpPr>
          <p:nvPr/>
        </p:nvSpPr>
        <p:spPr>
          <a:xfrm xmlns:a="http://schemas.openxmlformats.org/drawingml/2006/main">
            <a:off x="11182350"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02</a:t>
            </a:r>
          </a:p>
        </p:txBody>
      </p:sp>
      <p:sp>
        <p:nvSpPr>
          <p:cNvPr id="4" name="text-htwcib">
            <a:extLst xmlns:a="http://schemas.openxmlformats.org/drawingml/2006/main">
              <a:ext uri="{FF2B5EF4-FFF2-40B4-BE49-F238E27FC236}">
                <a16:creationId xmlns:a16="http://schemas.microsoft.com/office/drawing/2014/main" id="{10C3D04A-30B1-43B6-8310-9D4215DE376E}"/>
              </a:ext>
            </a:extLst>
          </p:cNvPr>
          <p:cNvSpPr>
            <a:spLocks xmlns:a="http://schemas.openxmlformats.org/drawingml/2006/main" noGrp="1"/>
          </p:cNvSpPr>
          <p:nvPr/>
        </p:nvSpPr>
        <p:spPr>
          <a:xfrm xmlns:a="http://schemas.openxmlformats.org/drawingml/2006/main">
            <a:off x="533400" y="16573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l">
              <a:defRPr sz="1950" b="1">
                <a:solidFill>
                  <a:srgbClr val="C73535"/>
                </a:solidFill>
                <a:latin typeface="Arial"/>
                <a:ea typeface="Arial"/>
                <a:cs typeface="Arial"/>
              </a:defRPr>
            </a:pPr>
            <a:r>
              <a:rPr sz="1950" b="1">
                <a:solidFill>
                  <a:srgbClr val="C73535"/>
                </a:solidFill>
                <a:latin typeface="Arial"/>
                <a:ea typeface="Arial"/>
                <a:cs typeface="Arial"/>
              </a:rPr>
              <a:t>Typical agent</a:t>
            </a:r>
          </a:p>
        </p:txBody>
      </p:sp>
      <p:sp>
        <p:nvSpPr>
          <p:cNvPr id="5" name="text-labj0d">
            <a:extLst xmlns:a="http://schemas.openxmlformats.org/drawingml/2006/main">
              <a:ext uri="{FF2B5EF4-FFF2-40B4-BE49-F238E27FC236}">
                <a16:creationId xmlns:a16="http://schemas.microsoft.com/office/drawing/2014/main" id="{2512265F-366F-488A-B84E-6B64E85FC2D7}"/>
              </a:ext>
            </a:extLst>
          </p:cNvPr>
          <p:cNvSpPr>
            <a:spLocks xmlns:a="http://schemas.openxmlformats.org/drawingml/2006/main" noGrp="1"/>
          </p:cNvSpPr>
          <p:nvPr/>
        </p:nvSpPr>
        <p:spPr>
          <a:xfrm xmlns:a="http://schemas.openxmlformats.org/drawingml/2006/main">
            <a:off x="533400" y="2171700"/>
            <a:ext cx="4857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0B0D10"/>
                </a:solidFill>
                <a:latin typeface="Arial"/>
                <a:ea typeface="Arial"/>
                <a:cs typeface="Arial"/>
              </a:defRPr>
            </a:pPr>
            <a:r>
              <a:rPr sz="2025" b="1">
                <a:solidFill>
                  <a:srgbClr val="0B0D10"/>
                </a:solidFill>
                <a:latin typeface="Arial"/>
                <a:ea typeface="Arial"/>
                <a:cs typeface="Arial"/>
              </a:rPr>
              <a:t>The model can choose the ticker, size, price, and action in one step.</a:t>
            </a:r>
          </a:p>
        </p:txBody>
      </p:sp>
      <p:sp>
        <p:nvSpPr>
          <p:cNvPr id="6" name="text-czncim">
            <a:extLst xmlns:a="http://schemas.openxmlformats.org/drawingml/2006/main">
              <a:ext uri="{FF2B5EF4-FFF2-40B4-BE49-F238E27FC236}">
                <a16:creationId xmlns:a16="http://schemas.microsoft.com/office/drawing/2014/main" id="{C18FA9CE-B80F-434A-9C6C-B4EA9E3B944D}"/>
              </a:ext>
            </a:extLst>
          </p:cNvPr>
          <p:cNvSpPr>
            <a:spLocks xmlns:a="http://schemas.openxmlformats.org/drawingml/2006/main" noGrp="1"/>
          </p:cNvSpPr>
          <p:nvPr/>
        </p:nvSpPr>
        <p:spPr>
          <a:xfrm xmlns:a="http://schemas.openxmlformats.org/drawingml/2006/main">
            <a:off x="533400" y="3600450"/>
            <a:ext cx="4857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B6470"/>
                </a:solidFill>
                <a:latin typeface="Arial"/>
                <a:ea typeface="Arial"/>
                <a:cs typeface="Arial"/>
              </a:defRPr>
            </a:pPr>
            <a:r>
              <a:rPr sz="1500" b="0">
                <a:solidFill>
                  <a:srgbClr val="5B6470"/>
                </a:solidFill>
                <a:latin typeface="Arial"/>
                <a:ea typeface="Arial"/>
                <a:cs typeface="Arial"/>
              </a:rPr>
              <a:t>A persuasive output can become an execution decision before independent controls verify it.</a:t>
            </a:r>
          </a:p>
        </p:txBody>
      </p:sp>
      <p:cxnSp>
        <p:nvCxnSpPr>
          <p:cNvPr id="19" name=""/>
          <p:cNvCxnSpPr/>
          <p:nvPr/>
        </p:nvCxnSpPr>
        <p:spPr>
          <a:xfrm xmlns:a="http://schemas.openxmlformats.org/drawingml/2006/main">
            <a:off x="6096000" y="1600200"/>
            <a:ext cx="0" cy="3886200"/>
          </a:xfrm>
          <a:prstGeom xmlns:a="http://schemas.openxmlformats.org/drawingml/2006/main" prst="straightConnector1">
            <a:avLst/>
          </a:prstGeom>
          <a:ln xmlns:a="http://schemas.openxmlformats.org/drawingml/2006/main" w="9525">
            <a:solidFill>
              <a:srgbClr val="B8C0C8"/>
            </a:solidFill>
            <a:prstDash val="solid"/>
          </a:ln>
        </p:spPr>
      </p:cxnSp>
      <p:sp>
        <p:nvSpPr>
          <p:cNvPr id="8" name="text-yh2qkb">
            <a:extLst xmlns:a="http://schemas.openxmlformats.org/drawingml/2006/main">
              <a:ext uri="{FF2B5EF4-FFF2-40B4-BE49-F238E27FC236}">
                <a16:creationId xmlns:a16="http://schemas.microsoft.com/office/drawing/2014/main" id="{BAF5093D-7615-4634-B978-29119C84A1BD}"/>
              </a:ext>
            </a:extLst>
          </p:cNvPr>
          <p:cNvSpPr>
            <a:spLocks xmlns:a="http://schemas.openxmlformats.org/drawingml/2006/main" noGrp="1"/>
          </p:cNvSpPr>
          <p:nvPr/>
        </p:nvSpPr>
        <p:spPr>
          <a:xfrm xmlns:a="http://schemas.openxmlformats.org/drawingml/2006/main">
            <a:off x="6705600" y="16573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6"/>
          </a:bodyPr>
          <a:lstStyle xmlns:a="http://schemas.openxmlformats.org/drawingml/2006/main"/>
          <a:p xmlns:a="http://schemas.openxmlformats.org/drawingml/2006/main">
            <a:pPr algn="l">
              <a:defRPr sz="1950" b="1">
                <a:solidFill>
                  <a:srgbClr val="2F80ED"/>
                </a:solidFill>
                <a:latin typeface="Arial"/>
                <a:ea typeface="Arial"/>
                <a:cs typeface="Arial"/>
              </a:defRPr>
            </a:pPr>
            <a:r>
              <a:rPr sz="1950" b="1">
                <a:solidFill>
                  <a:srgbClr val="2F80ED"/>
                </a:solidFill>
                <a:latin typeface="Arial"/>
                <a:ea typeface="Arial"/>
                <a:cs typeface="Arial"/>
              </a:rPr>
              <a:t>GlassBox Alpha</a:t>
            </a:r>
          </a:p>
        </p:txBody>
      </p:sp>
      <p:sp>
        <p:nvSpPr>
          <p:cNvPr id="9" name="text-6rf2ik">
            <a:extLst xmlns:a="http://schemas.openxmlformats.org/drawingml/2006/main">
              <a:ext uri="{FF2B5EF4-FFF2-40B4-BE49-F238E27FC236}">
                <a16:creationId xmlns:a16="http://schemas.microsoft.com/office/drawing/2014/main" id="{C29A18CF-73A0-4026-A918-51F846E278A2}"/>
              </a:ext>
            </a:extLst>
          </p:cNvPr>
          <p:cNvSpPr>
            <a:spLocks xmlns:a="http://schemas.openxmlformats.org/drawingml/2006/main" noGrp="1"/>
          </p:cNvSpPr>
          <p:nvPr/>
        </p:nvSpPr>
        <p:spPr>
          <a:xfrm xmlns:a="http://schemas.openxmlformats.org/drawingml/2006/main">
            <a:off x="6705600" y="2171700"/>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0B0D10"/>
                </a:solidFill>
                <a:latin typeface="Arial"/>
                <a:ea typeface="Arial"/>
                <a:cs typeface="Arial"/>
              </a:defRPr>
            </a:pPr>
            <a:r>
              <a:rPr sz="2025" b="1">
                <a:solidFill>
                  <a:srgbClr val="0B0D10"/>
                </a:solidFill>
                <a:latin typeface="Arial"/>
                <a:ea typeface="Arial"/>
                <a:cs typeface="Arial"/>
              </a:rPr>
              <a:t>Code creates one immutable candidate. AI receives veto-only authority.</a:t>
            </a:r>
          </a:p>
        </p:txBody>
      </p:sp>
      <p:sp>
        <p:nvSpPr>
          <p:cNvPr id="10" name="text-g6y2v8">
            <a:extLst xmlns:a="http://schemas.openxmlformats.org/drawingml/2006/main">
              <a:ext uri="{FF2B5EF4-FFF2-40B4-BE49-F238E27FC236}">
                <a16:creationId xmlns:a16="http://schemas.microsoft.com/office/drawing/2014/main" id="{B5A91AB2-E66C-44FF-BA0F-DE6DE8D359EA}"/>
              </a:ext>
            </a:extLst>
          </p:cNvPr>
          <p:cNvSpPr>
            <a:spLocks xmlns:a="http://schemas.openxmlformats.org/drawingml/2006/main" noGrp="1"/>
          </p:cNvSpPr>
          <p:nvPr/>
        </p:nvSpPr>
        <p:spPr>
          <a:xfrm xmlns:a="http://schemas.openxmlformats.org/drawingml/2006/main">
            <a:off x="6705600" y="360045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B6470"/>
                </a:solidFill>
                <a:latin typeface="Arial"/>
                <a:ea typeface="Arial"/>
                <a:cs typeface="Arial"/>
              </a:defRPr>
            </a:pPr>
            <a:r>
              <a:rPr sz="1500" b="0">
                <a:solidFill>
                  <a:srgbClr val="5B6470"/>
                </a:solidFill>
                <a:latin typeface="Arial"/>
                <a:ea typeface="Arial"/>
                <a:cs typeface="Arial"/>
              </a:rPr>
              <a:t>A separate risk kernel retains the final decision and records every observed boundary.</a:t>
            </a:r>
          </a:p>
        </p:txBody>
      </p:sp>
      <p:sp>
        <p:nvSpPr>
          <p:cNvPr id="11" name="box-l8c17s">
            <a:extLst xmlns:a="http://schemas.openxmlformats.org/drawingml/2006/main">
              <a:ext uri="{FF2B5EF4-FFF2-40B4-BE49-F238E27FC236}">
                <a16:creationId xmlns:a16="http://schemas.microsoft.com/office/drawing/2014/main" id="{E665565D-E2FC-447E-ABCB-B88BB7D45C3F}"/>
              </a:ext>
            </a:extLst>
          </p:cNvPr>
          <p:cNvSpPr>
            <a:spLocks xmlns:a="http://schemas.openxmlformats.org/drawingml/2006/main" noGrp="1"/>
          </p:cNvSpPr>
          <p:nvPr/>
        </p:nvSpPr>
        <p:spPr>
          <a:xfrm xmlns:a="http://schemas.openxmlformats.org/drawingml/2006/main">
            <a:off x="6705600" y="4953000"/>
            <a:ext cx="4724400" cy="647700"/>
          </a:xfrm>
          <a:prstGeom xmlns:a="http://schemas.openxmlformats.org/drawingml/2006/main" prst="rect">
            <a:avLst/>
          </a:prstGeom>
          <a:solidFill xmlns:a="http://schemas.openxmlformats.org/drawingml/2006/main">
            <a:srgbClr val="DCEEFF"/>
          </a:solidFill>
          <a:ln xmlns:a="http://schemas.openxmlformats.org/drawingml/2006/main" w="9525">
            <a:solidFill>
              <a:srgbClr val="2F80ED"/>
            </a:solidFill>
            <a:prstDash val="solid"/>
          </a:ln>
        </p:spPr>
      </p:sp>
      <p:sp>
        <p:nvSpPr>
          <p:cNvPr id="12" name="text-zq4dzd">
            <a:extLst xmlns:a="http://schemas.openxmlformats.org/drawingml/2006/main">
              <a:ext uri="{FF2B5EF4-FFF2-40B4-BE49-F238E27FC236}">
                <a16:creationId xmlns:a16="http://schemas.microsoft.com/office/drawing/2014/main" id="{F1541C5E-E739-4D3E-AF26-28593361F5C0}"/>
              </a:ext>
            </a:extLst>
          </p:cNvPr>
          <p:cNvSpPr>
            <a:spLocks xmlns:a="http://schemas.openxmlformats.org/drawingml/2006/main" noGrp="1"/>
          </p:cNvSpPr>
          <p:nvPr/>
        </p:nvSpPr>
        <p:spPr>
          <a:xfrm xmlns:a="http://schemas.openxmlformats.org/drawingml/2006/main">
            <a:off x="6896100" y="51339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a:solidFill>
                  <a:srgbClr val="2F80ED"/>
                </a:solidFill>
                <a:latin typeface="Arial"/>
                <a:ea typeface="Arial"/>
                <a:cs typeface="Arial"/>
              </a:defRPr>
            </a:pPr>
            <a:r>
              <a:rPr sz="1500" b="1">
                <a:solidFill>
                  <a:srgbClr val="2F80ED"/>
                </a:solidFill>
                <a:latin typeface="Arial"/>
                <a:ea typeface="Arial"/>
                <a:cs typeface="Arial"/>
              </a:rPr>
              <a:t>Probabilistic judgment. Deterministic authority.</a:t>
            </a:r>
          </a:p>
        </p:txBody>
      </p:sp>
    </p:spTree>
    <p:extLst>
      <p:ext uri="{BB962C8B-B14F-4D97-AF65-F5344CB8AC3E}">
        <p14:creationId xmlns:p14="http://schemas.microsoft.com/office/powerpoint/2010/main" val="2142025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lide-3-title">
            <a:extLst xmlns:a="http://schemas.openxmlformats.org/drawingml/2006/main">
              <a:ext uri="{FF2B5EF4-FFF2-40B4-BE49-F238E27FC236}">
                <a16:creationId xmlns:a16="http://schemas.microsoft.com/office/drawing/2014/main" id="{A08CF0F0-EF90-428F-B1E7-263C3104F391}"/>
              </a:ext>
            </a:extLst>
          </p:cNvPr>
          <p:cNvSpPr>
            <a:spLocks xmlns:a="http://schemas.openxmlformats.org/drawingml/2006/main" noGrp="1"/>
          </p:cNvSpPr>
          <p:nvPr/>
        </p:nvSpPr>
        <p:spPr>
          <a:xfrm xmlns:a="http://schemas.openxmlformats.org/drawingml/2006/main">
            <a:off x="5334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0B0D10"/>
                </a:solidFill>
                <a:latin typeface="Arial"/>
                <a:ea typeface="Arial"/>
                <a:cs typeface="Arial"/>
              </a:defRPr>
            </a:pPr>
            <a:r>
              <a:rPr sz="3000" b="1">
                <a:solidFill>
                  <a:srgbClr val="0B0D10"/>
                </a:solidFill>
                <a:latin typeface="Arial"/>
                <a:ea typeface="Arial"/>
                <a:cs typeface="Arial"/>
              </a:rPr>
              <a:t>One candidate passes through seven controlled stages</a:t>
            </a:r>
          </a:p>
        </p:txBody>
      </p:sp>
      <p:cxnSp>
        <p:nvCxnSpPr>
          <p:cNvPr id="34"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B8C0C8"/>
            </a:solidFill>
            <a:prstDash val="solid"/>
          </a:ln>
        </p:spPr>
      </p:cxnSp>
      <p:sp>
        <p:nvSpPr>
          <p:cNvPr id="3" name="text-03z5c3">
            <a:extLst xmlns:a="http://schemas.openxmlformats.org/drawingml/2006/main">
              <a:ext uri="{FF2B5EF4-FFF2-40B4-BE49-F238E27FC236}">
                <a16:creationId xmlns:a16="http://schemas.microsoft.com/office/drawing/2014/main" id="{C2615336-27D2-4B6C-A727-C867442D68B7}"/>
              </a:ext>
            </a:extLst>
          </p:cNvPr>
          <p:cNvSpPr>
            <a:spLocks xmlns:a="http://schemas.openxmlformats.org/drawingml/2006/main" noGrp="1"/>
          </p:cNvSpPr>
          <p:nvPr/>
        </p:nvSpPr>
        <p:spPr>
          <a:xfrm xmlns:a="http://schemas.openxmlformats.org/drawingml/2006/main">
            <a:off x="11182350"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03</a:t>
            </a:r>
          </a:p>
        </p:txBody>
      </p:sp>
      <p:cxnSp>
        <p:nvCxnSpPr>
          <p:cNvPr id="36" name=""/>
          <p:cNvCxnSpPr/>
          <p:nvPr/>
        </p:nvCxnSpPr>
        <p:spPr>
          <a:xfrm xmlns:a="http://schemas.openxmlformats.org/drawingml/2006/main">
            <a:off x="1638300" y="3086100"/>
            <a:ext cx="485775" cy="0"/>
          </a:xfrm>
          <a:prstGeom xmlns:a="http://schemas.openxmlformats.org/drawingml/2006/main" prst="straightConnector1">
            <a:avLst/>
          </a:prstGeom>
          <a:ln xmlns:a="http://schemas.openxmlformats.org/drawingml/2006/main" w="28575">
            <a:solidFill>
              <a:srgbClr val="2F80ED"/>
            </a:solidFill>
            <a:prstDash val="solid"/>
          </a:ln>
        </p:spPr>
      </p:cxnSp>
      <p:cxnSp>
        <p:nvCxnSpPr>
          <p:cNvPr id="37" name=""/>
          <p:cNvCxnSpPr/>
          <p:nvPr/>
        </p:nvCxnSpPr>
        <p:spPr>
          <a:xfrm xmlns:a="http://schemas.openxmlformats.org/drawingml/2006/main">
            <a:off x="3228975" y="3086100"/>
            <a:ext cx="485775" cy="0"/>
          </a:xfrm>
          <a:prstGeom xmlns:a="http://schemas.openxmlformats.org/drawingml/2006/main" prst="straightConnector1">
            <a:avLst/>
          </a:prstGeom>
          <a:ln xmlns:a="http://schemas.openxmlformats.org/drawingml/2006/main" w="28575">
            <a:solidFill>
              <a:srgbClr val="2F80ED"/>
            </a:solidFill>
            <a:prstDash val="solid"/>
          </a:ln>
        </p:spPr>
      </p:cxnSp>
      <p:cxnSp>
        <p:nvCxnSpPr>
          <p:cNvPr id="38" name=""/>
          <p:cNvCxnSpPr/>
          <p:nvPr/>
        </p:nvCxnSpPr>
        <p:spPr>
          <a:xfrm xmlns:a="http://schemas.openxmlformats.org/drawingml/2006/main">
            <a:off x="4819650" y="3086100"/>
            <a:ext cx="485775" cy="0"/>
          </a:xfrm>
          <a:prstGeom xmlns:a="http://schemas.openxmlformats.org/drawingml/2006/main" prst="straightConnector1">
            <a:avLst/>
          </a:prstGeom>
          <a:ln xmlns:a="http://schemas.openxmlformats.org/drawingml/2006/main" w="28575">
            <a:solidFill>
              <a:srgbClr val="2F80ED"/>
            </a:solidFill>
            <a:prstDash val="solid"/>
          </a:ln>
        </p:spPr>
      </p:cxnSp>
      <p:cxnSp>
        <p:nvCxnSpPr>
          <p:cNvPr id="39" name=""/>
          <p:cNvCxnSpPr/>
          <p:nvPr/>
        </p:nvCxnSpPr>
        <p:spPr>
          <a:xfrm xmlns:a="http://schemas.openxmlformats.org/drawingml/2006/main">
            <a:off x="6410325" y="3086100"/>
            <a:ext cx="485775" cy="0"/>
          </a:xfrm>
          <a:prstGeom xmlns:a="http://schemas.openxmlformats.org/drawingml/2006/main" prst="straightConnector1">
            <a:avLst/>
          </a:prstGeom>
          <a:ln xmlns:a="http://schemas.openxmlformats.org/drawingml/2006/main" w="28575">
            <a:solidFill>
              <a:srgbClr val="2F80ED"/>
            </a:solidFill>
            <a:prstDash val="solid"/>
          </a:ln>
        </p:spPr>
      </p:cxnSp>
      <p:cxnSp>
        <p:nvCxnSpPr>
          <p:cNvPr id="40" name=""/>
          <p:cNvCxnSpPr/>
          <p:nvPr/>
        </p:nvCxnSpPr>
        <p:spPr>
          <a:xfrm xmlns:a="http://schemas.openxmlformats.org/drawingml/2006/main">
            <a:off x="8001000" y="3086100"/>
            <a:ext cx="485775" cy="0"/>
          </a:xfrm>
          <a:prstGeom xmlns:a="http://schemas.openxmlformats.org/drawingml/2006/main" prst="straightConnector1">
            <a:avLst/>
          </a:prstGeom>
          <a:ln xmlns:a="http://schemas.openxmlformats.org/drawingml/2006/main" w="28575">
            <a:solidFill>
              <a:srgbClr val="2F80ED"/>
            </a:solidFill>
            <a:prstDash val="solid"/>
          </a:ln>
        </p:spPr>
      </p:cxnSp>
      <p:cxnSp>
        <p:nvCxnSpPr>
          <p:cNvPr id="41" name=""/>
          <p:cNvCxnSpPr/>
          <p:nvPr/>
        </p:nvCxnSpPr>
        <p:spPr>
          <a:xfrm xmlns:a="http://schemas.openxmlformats.org/drawingml/2006/main">
            <a:off x="9591675" y="3086100"/>
            <a:ext cx="485775" cy="0"/>
          </a:xfrm>
          <a:prstGeom xmlns:a="http://schemas.openxmlformats.org/drawingml/2006/main" prst="straightConnector1">
            <a:avLst/>
          </a:prstGeom>
          <a:ln xmlns:a="http://schemas.openxmlformats.org/drawingml/2006/main" w="28575">
            <a:solidFill>
              <a:srgbClr val="2F80ED"/>
            </a:solidFill>
            <a:prstDash val="solid"/>
          </a:ln>
        </p:spPr>
      </p:cxnSp>
      <p:sp>
        <p:nvSpPr>
          <p:cNvPr id="10" name="box-mvbcm5">
            <a:extLst xmlns:a="http://schemas.openxmlformats.org/drawingml/2006/main">
              <a:ext uri="{FF2B5EF4-FFF2-40B4-BE49-F238E27FC236}">
                <a16:creationId xmlns:a16="http://schemas.microsoft.com/office/drawing/2014/main" id="{5C1F629D-5058-4CB9-A735-C3EE1FEEBF45}"/>
              </a:ext>
            </a:extLst>
          </p:cNvPr>
          <p:cNvSpPr>
            <a:spLocks xmlns:a="http://schemas.openxmlformats.org/drawingml/2006/main" noGrp="1"/>
          </p:cNvSpPr>
          <p:nvPr/>
        </p:nvSpPr>
        <p:spPr>
          <a:xfrm xmlns:a="http://schemas.openxmlformats.org/drawingml/2006/main">
            <a:off x="533400" y="2476500"/>
            <a:ext cx="1104900" cy="12192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11" name="text-kr3ri3">
            <a:extLst xmlns:a="http://schemas.openxmlformats.org/drawingml/2006/main">
              <a:ext uri="{FF2B5EF4-FFF2-40B4-BE49-F238E27FC236}">
                <a16:creationId xmlns:a16="http://schemas.microsoft.com/office/drawing/2014/main" id="{984204B8-BACC-4BEC-A532-AAC0C8FFBD5B}"/>
              </a:ext>
            </a:extLst>
          </p:cNvPr>
          <p:cNvSpPr>
            <a:spLocks xmlns:a="http://schemas.openxmlformats.org/drawingml/2006/main" noGrp="1"/>
          </p:cNvSpPr>
          <p:nvPr/>
        </p:nvSpPr>
        <p:spPr>
          <a:xfrm xmlns:a="http://schemas.openxmlformats.org/drawingml/2006/main">
            <a:off x="685800" y="26289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1</a:t>
            </a:r>
          </a:p>
        </p:txBody>
      </p:sp>
      <p:sp>
        <p:nvSpPr>
          <p:cNvPr id="12" name="text-f4xblq">
            <a:extLst xmlns:a="http://schemas.openxmlformats.org/drawingml/2006/main">
              <a:ext uri="{FF2B5EF4-FFF2-40B4-BE49-F238E27FC236}">
                <a16:creationId xmlns:a16="http://schemas.microsoft.com/office/drawing/2014/main" id="{6B95B7E2-7E2F-42CD-B9C7-C84269653851}"/>
              </a:ext>
            </a:extLst>
          </p:cNvPr>
          <p:cNvSpPr>
            <a:spLocks xmlns:a="http://schemas.openxmlformats.org/drawingml/2006/main" noGrp="1"/>
          </p:cNvSpPr>
          <p:nvPr/>
        </p:nvSpPr>
        <p:spPr>
          <a:xfrm xmlns:a="http://schemas.openxmlformats.org/drawingml/2006/main">
            <a:off x="609600" y="2952750"/>
            <a:ext cx="95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Alpaca</a:t>
            </a:r>
          </a:p>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bars</a:t>
            </a:r>
          </a:p>
        </p:txBody>
      </p:sp>
      <p:sp>
        <p:nvSpPr>
          <p:cNvPr id="13" name="box-xljfu4">
            <a:extLst xmlns:a="http://schemas.openxmlformats.org/drawingml/2006/main">
              <a:ext uri="{FF2B5EF4-FFF2-40B4-BE49-F238E27FC236}">
                <a16:creationId xmlns:a16="http://schemas.microsoft.com/office/drawing/2014/main" id="{666F1C7D-3A5D-429F-8FD9-E486731F07A1}"/>
              </a:ext>
            </a:extLst>
          </p:cNvPr>
          <p:cNvSpPr>
            <a:spLocks xmlns:a="http://schemas.openxmlformats.org/drawingml/2006/main" noGrp="1"/>
          </p:cNvSpPr>
          <p:nvPr/>
        </p:nvSpPr>
        <p:spPr>
          <a:xfrm xmlns:a="http://schemas.openxmlformats.org/drawingml/2006/main">
            <a:off x="2124075" y="2476500"/>
            <a:ext cx="1104900" cy="12192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14" name="text-jn9810">
            <a:extLst xmlns:a="http://schemas.openxmlformats.org/drawingml/2006/main">
              <a:ext uri="{FF2B5EF4-FFF2-40B4-BE49-F238E27FC236}">
                <a16:creationId xmlns:a16="http://schemas.microsoft.com/office/drawing/2014/main" id="{369C827C-1804-4AD7-AC3D-F8EF0688FABA}"/>
              </a:ext>
            </a:extLst>
          </p:cNvPr>
          <p:cNvSpPr>
            <a:spLocks xmlns:a="http://schemas.openxmlformats.org/drawingml/2006/main" noGrp="1"/>
          </p:cNvSpPr>
          <p:nvPr/>
        </p:nvSpPr>
        <p:spPr>
          <a:xfrm xmlns:a="http://schemas.openxmlformats.org/drawingml/2006/main">
            <a:off x="2276475" y="26289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2</a:t>
            </a:r>
          </a:p>
        </p:txBody>
      </p:sp>
      <p:sp>
        <p:nvSpPr>
          <p:cNvPr id="15" name="text-iua58m">
            <a:extLst xmlns:a="http://schemas.openxmlformats.org/drawingml/2006/main">
              <a:ext uri="{FF2B5EF4-FFF2-40B4-BE49-F238E27FC236}">
                <a16:creationId xmlns:a16="http://schemas.microsoft.com/office/drawing/2014/main" id="{B7C59548-4AC1-4202-9B6C-4A9198CCB0E7}"/>
              </a:ext>
            </a:extLst>
          </p:cNvPr>
          <p:cNvSpPr>
            <a:spLocks xmlns:a="http://schemas.openxmlformats.org/drawingml/2006/main" noGrp="1"/>
          </p:cNvSpPr>
          <p:nvPr/>
        </p:nvSpPr>
        <p:spPr>
          <a:xfrm xmlns:a="http://schemas.openxmlformats.org/drawingml/2006/main">
            <a:off x="2200275" y="2952750"/>
            <a:ext cx="95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Features</a:t>
            </a:r>
          </a:p>
        </p:txBody>
      </p:sp>
      <p:sp>
        <p:nvSpPr>
          <p:cNvPr id="16" name="box-0wo65v">
            <a:extLst xmlns:a="http://schemas.openxmlformats.org/drawingml/2006/main">
              <a:ext uri="{FF2B5EF4-FFF2-40B4-BE49-F238E27FC236}">
                <a16:creationId xmlns:a16="http://schemas.microsoft.com/office/drawing/2014/main" id="{EFC957C0-4D4B-4A67-9F46-0237211E8AF1}"/>
              </a:ext>
            </a:extLst>
          </p:cNvPr>
          <p:cNvSpPr>
            <a:spLocks xmlns:a="http://schemas.openxmlformats.org/drawingml/2006/main" noGrp="1"/>
          </p:cNvSpPr>
          <p:nvPr/>
        </p:nvSpPr>
        <p:spPr>
          <a:xfrm xmlns:a="http://schemas.openxmlformats.org/drawingml/2006/main">
            <a:off x="3714750" y="2476500"/>
            <a:ext cx="1104900" cy="12192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17" name="text-pf1xsx">
            <a:extLst xmlns:a="http://schemas.openxmlformats.org/drawingml/2006/main">
              <a:ext uri="{FF2B5EF4-FFF2-40B4-BE49-F238E27FC236}">
                <a16:creationId xmlns:a16="http://schemas.microsoft.com/office/drawing/2014/main" id="{CB3661A3-586F-48AF-84B4-9B374C97E61B}"/>
              </a:ext>
            </a:extLst>
          </p:cNvPr>
          <p:cNvSpPr>
            <a:spLocks xmlns:a="http://schemas.openxmlformats.org/drawingml/2006/main" noGrp="1"/>
          </p:cNvSpPr>
          <p:nvPr/>
        </p:nvSpPr>
        <p:spPr>
          <a:xfrm xmlns:a="http://schemas.openxmlformats.org/drawingml/2006/main">
            <a:off x="3867150" y="26289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3</a:t>
            </a:r>
          </a:p>
        </p:txBody>
      </p:sp>
      <p:sp>
        <p:nvSpPr>
          <p:cNvPr id="18" name="text-xsq46a">
            <a:extLst xmlns:a="http://schemas.openxmlformats.org/drawingml/2006/main">
              <a:ext uri="{FF2B5EF4-FFF2-40B4-BE49-F238E27FC236}">
                <a16:creationId xmlns:a16="http://schemas.microsoft.com/office/drawing/2014/main" id="{755AC3AC-F5F7-4054-9FCE-23A32F5A9A51}"/>
              </a:ext>
            </a:extLst>
          </p:cNvPr>
          <p:cNvSpPr>
            <a:spLocks xmlns:a="http://schemas.openxmlformats.org/drawingml/2006/main" noGrp="1"/>
          </p:cNvSpPr>
          <p:nvPr/>
        </p:nvSpPr>
        <p:spPr>
          <a:xfrm xmlns:a="http://schemas.openxmlformats.org/drawingml/2006/main">
            <a:off x="3790950" y="2952750"/>
            <a:ext cx="95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Candidate</a:t>
            </a:r>
          </a:p>
        </p:txBody>
      </p:sp>
      <p:sp>
        <p:nvSpPr>
          <p:cNvPr id="19" name="box-dtjopi">
            <a:extLst xmlns:a="http://schemas.openxmlformats.org/drawingml/2006/main">
              <a:ext uri="{FF2B5EF4-FFF2-40B4-BE49-F238E27FC236}">
                <a16:creationId xmlns:a16="http://schemas.microsoft.com/office/drawing/2014/main" id="{7D91D6C7-34D8-4DCA-8868-9D317A1FAF7B}"/>
              </a:ext>
            </a:extLst>
          </p:cNvPr>
          <p:cNvSpPr>
            <a:spLocks xmlns:a="http://schemas.openxmlformats.org/drawingml/2006/main" noGrp="1"/>
          </p:cNvSpPr>
          <p:nvPr/>
        </p:nvSpPr>
        <p:spPr>
          <a:xfrm xmlns:a="http://schemas.openxmlformats.org/drawingml/2006/main">
            <a:off x="5305425" y="2476500"/>
            <a:ext cx="1104900" cy="1219200"/>
          </a:xfrm>
          <a:prstGeom xmlns:a="http://schemas.openxmlformats.org/drawingml/2006/main" prst="rect">
            <a:avLst/>
          </a:prstGeom>
          <a:solidFill xmlns:a="http://schemas.openxmlformats.org/drawingml/2006/main">
            <a:srgbClr val="DCEEFF"/>
          </a:solidFill>
          <a:ln xmlns:a="http://schemas.openxmlformats.org/drawingml/2006/main" w="19050">
            <a:solidFill>
              <a:srgbClr val="2F80ED"/>
            </a:solidFill>
            <a:prstDash val="solid"/>
          </a:ln>
        </p:spPr>
      </p:sp>
      <p:sp>
        <p:nvSpPr>
          <p:cNvPr id="20" name="text-n2qby1">
            <a:extLst xmlns:a="http://schemas.openxmlformats.org/drawingml/2006/main">
              <a:ext uri="{FF2B5EF4-FFF2-40B4-BE49-F238E27FC236}">
                <a16:creationId xmlns:a16="http://schemas.microsoft.com/office/drawing/2014/main" id="{863BC9DF-E401-4483-9C92-62A5C68A2AFA}"/>
              </a:ext>
            </a:extLst>
          </p:cNvPr>
          <p:cNvSpPr>
            <a:spLocks xmlns:a="http://schemas.openxmlformats.org/drawingml/2006/main" noGrp="1"/>
          </p:cNvSpPr>
          <p:nvPr/>
        </p:nvSpPr>
        <p:spPr>
          <a:xfrm xmlns:a="http://schemas.openxmlformats.org/drawingml/2006/main">
            <a:off x="5457825" y="26289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4</a:t>
            </a:r>
          </a:p>
        </p:txBody>
      </p:sp>
      <p:sp>
        <p:nvSpPr>
          <p:cNvPr id="21" name="text-jil18w">
            <a:extLst xmlns:a="http://schemas.openxmlformats.org/drawingml/2006/main">
              <a:ext uri="{FF2B5EF4-FFF2-40B4-BE49-F238E27FC236}">
                <a16:creationId xmlns:a16="http://schemas.microsoft.com/office/drawing/2014/main" id="{4B8F5D47-9D93-44C2-B00D-8904F18B8D7E}"/>
              </a:ext>
            </a:extLst>
          </p:cNvPr>
          <p:cNvSpPr>
            <a:spLocks xmlns:a="http://schemas.openxmlformats.org/drawingml/2006/main" noGrp="1"/>
          </p:cNvSpPr>
          <p:nvPr/>
        </p:nvSpPr>
        <p:spPr>
          <a:xfrm xmlns:a="http://schemas.openxmlformats.org/drawingml/2006/main">
            <a:off x="5381625" y="2952750"/>
            <a:ext cx="95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AI critic</a:t>
            </a:r>
          </a:p>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ALLOW / VETO</a:t>
            </a:r>
          </a:p>
        </p:txBody>
      </p:sp>
      <p:sp>
        <p:nvSpPr>
          <p:cNvPr id="22" name="box-f673n9">
            <a:extLst xmlns:a="http://schemas.openxmlformats.org/drawingml/2006/main">
              <a:ext uri="{FF2B5EF4-FFF2-40B4-BE49-F238E27FC236}">
                <a16:creationId xmlns:a16="http://schemas.microsoft.com/office/drawing/2014/main" id="{5FF8FF2E-5B75-4F1C-931A-39397685DC14}"/>
              </a:ext>
            </a:extLst>
          </p:cNvPr>
          <p:cNvSpPr>
            <a:spLocks xmlns:a="http://schemas.openxmlformats.org/drawingml/2006/main" noGrp="1"/>
          </p:cNvSpPr>
          <p:nvPr/>
        </p:nvSpPr>
        <p:spPr>
          <a:xfrm xmlns:a="http://schemas.openxmlformats.org/drawingml/2006/main">
            <a:off x="6896100" y="2476500"/>
            <a:ext cx="1104900" cy="12192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23" name="text-te1i0a">
            <a:extLst xmlns:a="http://schemas.openxmlformats.org/drawingml/2006/main">
              <a:ext uri="{FF2B5EF4-FFF2-40B4-BE49-F238E27FC236}">
                <a16:creationId xmlns:a16="http://schemas.microsoft.com/office/drawing/2014/main" id="{BBE83129-913B-4E27-A6A9-4EEEE0BA9355}"/>
              </a:ext>
            </a:extLst>
          </p:cNvPr>
          <p:cNvSpPr>
            <a:spLocks xmlns:a="http://schemas.openxmlformats.org/drawingml/2006/main" noGrp="1"/>
          </p:cNvSpPr>
          <p:nvPr/>
        </p:nvSpPr>
        <p:spPr>
          <a:xfrm xmlns:a="http://schemas.openxmlformats.org/drawingml/2006/main">
            <a:off x="7048500" y="26289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5</a:t>
            </a:r>
          </a:p>
        </p:txBody>
      </p:sp>
      <p:sp>
        <p:nvSpPr>
          <p:cNvPr id="24" name="text-ru4pcb">
            <a:extLst xmlns:a="http://schemas.openxmlformats.org/drawingml/2006/main">
              <a:ext uri="{FF2B5EF4-FFF2-40B4-BE49-F238E27FC236}">
                <a16:creationId xmlns:a16="http://schemas.microsoft.com/office/drawing/2014/main" id="{F2628A7A-D01A-4425-9725-66C6BFA8D372}"/>
              </a:ext>
            </a:extLst>
          </p:cNvPr>
          <p:cNvSpPr>
            <a:spLocks xmlns:a="http://schemas.openxmlformats.org/drawingml/2006/main" noGrp="1"/>
          </p:cNvSpPr>
          <p:nvPr/>
        </p:nvSpPr>
        <p:spPr>
          <a:xfrm xmlns:a="http://schemas.openxmlformats.org/drawingml/2006/main">
            <a:off x="6972300" y="2952750"/>
            <a:ext cx="95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32 risk</a:t>
            </a:r>
          </a:p>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checks</a:t>
            </a:r>
          </a:p>
        </p:txBody>
      </p:sp>
      <p:sp>
        <p:nvSpPr>
          <p:cNvPr id="25" name="box-tjjj5z">
            <a:extLst xmlns:a="http://schemas.openxmlformats.org/drawingml/2006/main">
              <a:ext uri="{FF2B5EF4-FFF2-40B4-BE49-F238E27FC236}">
                <a16:creationId xmlns:a16="http://schemas.microsoft.com/office/drawing/2014/main" id="{E7B83A70-03A9-4D0E-9F38-A09F1E14367D}"/>
              </a:ext>
            </a:extLst>
          </p:cNvPr>
          <p:cNvSpPr>
            <a:spLocks xmlns:a="http://schemas.openxmlformats.org/drawingml/2006/main" noGrp="1"/>
          </p:cNvSpPr>
          <p:nvPr/>
        </p:nvSpPr>
        <p:spPr>
          <a:xfrm xmlns:a="http://schemas.openxmlformats.org/drawingml/2006/main">
            <a:off x="8486775" y="2476500"/>
            <a:ext cx="1104900" cy="12192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26" name="text-3c4oli">
            <a:extLst xmlns:a="http://schemas.openxmlformats.org/drawingml/2006/main">
              <a:ext uri="{FF2B5EF4-FFF2-40B4-BE49-F238E27FC236}">
                <a16:creationId xmlns:a16="http://schemas.microsoft.com/office/drawing/2014/main" id="{1BDA0D9E-F049-4916-A38E-F56E6D7A17AC}"/>
              </a:ext>
            </a:extLst>
          </p:cNvPr>
          <p:cNvSpPr>
            <a:spLocks xmlns:a="http://schemas.openxmlformats.org/drawingml/2006/main" noGrp="1"/>
          </p:cNvSpPr>
          <p:nvPr/>
        </p:nvSpPr>
        <p:spPr>
          <a:xfrm xmlns:a="http://schemas.openxmlformats.org/drawingml/2006/main">
            <a:off x="8639175" y="26289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6</a:t>
            </a:r>
          </a:p>
        </p:txBody>
      </p:sp>
      <p:sp>
        <p:nvSpPr>
          <p:cNvPr id="27" name="text-to505a">
            <a:extLst xmlns:a="http://schemas.openxmlformats.org/drawingml/2006/main">
              <a:ext uri="{FF2B5EF4-FFF2-40B4-BE49-F238E27FC236}">
                <a16:creationId xmlns:a16="http://schemas.microsoft.com/office/drawing/2014/main" id="{FD521C30-92D4-4ECB-9A37-193A814F9350}"/>
              </a:ext>
            </a:extLst>
          </p:cNvPr>
          <p:cNvSpPr>
            <a:spLocks xmlns:a="http://schemas.openxmlformats.org/drawingml/2006/main" noGrp="1"/>
          </p:cNvSpPr>
          <p:nvPr/>
        </p:nvSpPr>
        <p:spPr>
          <a:xfrm xmlns:a="http://schemas.openxmlformats.org/drawingml/2006/main">
            <a:off x="8562975" y="2952750"/>
            <a:ext cx="95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Atomic</a:t>
            </a:r>
          </a:p>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paper order</a:t>
            </a:r>
          </a:p>
        </p:txBody>
      </p:sp>
      <p:sp>
        <p:nvSpPr>
          <p:cNvPr id="28" name="box-lk33hy">
            <a:extLst xmlns:a="http://schemas.openxmlformats.org/drawingml/2006/main">
              <a:ext uri="{FF2B5EF4-FFF2-40B4-BE49-F238E27FC236}">
                <a16:creationId xmlns:a16="http://schemas.microsoft.com/office/drawing/2014/main" id="{297ED325-A013-41C5-9797-C967611FA6EB}"/>
              </a:ext>
            </a:extLst>
          </p:cNvPr>
          <p:cNvSpPr>
            <a:spLocks xmlns:a="http://schemas.openxmlformats.org/drawingml/2006/main" noGrp="1"/>
          </p:cNvSpPr>
          <p:nvPr/>
        </p:nvSpPr>
        <p:spPr>
          <a:xfrm xmlns:a="http://schemas.openxmlformats.org/drawingml/2006/main">
            <a:off x="10077450" y="2476500"/>
            <a:ext cx="1104900" cy="12192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29" name="text-ze3yc8">
            <a:extLst xmlns:a="http://schemas.openxmlformats.org/drawingml/2006/main">
              <a:ext uri="{FF2B5EF4-FFF2-40B4-BE49-F238E27FC236}">
                <a16:creationId xmlns:a16="http://schemas.microsoft.com/office/drawing/2014/main" id="{7FE7CCC8-3FBA-4422-AED0-12685E50504B}"/>
              </a:ext>
            </a:extLst>
          </p:cNvPr>
          <p:cNvSpPr>
            <a:spLocks xmlns:a="http://schemas.openxmlformats.org/drawingml/2006/main" noGrp="1"/>
          </p:cNvSpPr>
          <p:nvPr/>
        </p:nvSpPr>
        <p:spPr>
          <a:xfrm xmlns:a="http://schemas.openxmlformats.org/drawingml/2006/main">
            <a:off x="10229850" y="26289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7</a:t>
            </a:r>
          </a:p>
        </p:txBody>
      </p:sp>
      <p:sp>
        <p:nvSpPr>
          <p:cNvPr id="30" name="text-032cra">
            <a:extLst xmlns:a="http://schemas.openxmlformats.org/drawingml/2006/main">
              <a:ext uri="{FF2B5EF4-FFF2-40B4-BE49-F238E27FC236}">
                <a16:creationId xmlns:a16="http://schemas.microsoft.com/office/drawing/2014/main" id="{7B697810-008F-4D66-9D39-E36E15F934F1}"/>
              </a:ext>
            </a:extLst>
          </p:cNvPr>
          <p:cNvSpPr>
            <a:spLocks xmlns:a="http://schemas.openxmlformats.org/drawingml/2006/main" noGrp="1"/>
          </p:cNvSpPr>
          <p:nvPr/>
        </p:nvSpPr>
        <p:spPr>
          <a:xfrm xmlns:a="http://schemas.openxmlformats.org/drawingml/2006/main">
            <a:off x="10153650" y="2952750"/>
            <a:ext cx="95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Trade</a:t>
            </a:r>
          </a:p>
          <a:p xmlns:a="http://schemas.openxmlformats.org/drawingml/2006/main">
            <a:pPr algn="ctr">
              <a:defRPr sz="1200" b="1">
                <a:solidFill>
                  <a:srgbClr val="0B0D10"/>
                </a:solidFill>
                <a:latin typeface="Arial"/>
                <a:ea typeface="Arial"/>
                <a:cs typeface="Arial"/>
              </a:defRPr>
            </a:pPr>
            <a:r>
              <a:rPr sz="1200" b="1">
                <a:solidFill>
                  <a:srgbClr val="0B0D10"/>
                </a:solidFill>
                <a:latin typeface="Arial"/>
                <a:ea typeface="Arial"/>
                <a:cs typeface="Arial"/>
              </a:rPr>
              <a:t>Passport</a:t>
            </a:r>
          </a:p>
        </p:txBody>
      </p:sp>
      <p:sp>
        <p:nvSpPr>
          <p:cNvPr id="31" name="text-4gobfx">
            <a:extLst xmlns:a="http://schemas.openxmlformats.org/drawingml/2006/main">
              <a:ext uri="{FF2B5EF4-FFF2-40B4-BE49-F238E27FC236}">
                <a16:creationId xmlns:a16="http://schemas.microsoft.com/office/drawing/2014/main" id="{25DA0B67-F94A-4689-9D75-EB1500C4F18F}"/>
              </a:ext>
            </a:extLst>
          </p:cNvPr>
          <p:cNvSpPr>
            <a:spLocks xmlns:a="http://schemas.openxmlformats.org/drawingml/2006/main" noGrp="1"/>
          </p:cNvSpPr>
          <p:nvPr/>
        </p:nvSpPr>
        <p:spPr>
          <a:xfrm xmlns:a="http://schemas.openxmlformats.org/drawingml/2006/main">
            <a:off x="1504950" y="4591050"/>
            <a:ext cx="918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51"/>
          </a:bodyPr>
          <a:lstStyle xmlns:a="http://schemas.openxmlformats.org/drawingml/2006/main"/>
          <a:p xmlns:a="http://schemas.openxmlformats.org/drawingml/2006/main">
            <a:pPr algn="ctr">
              <a:defRPr sz="2025" b="1">
                <a:solidFill>
                  <a:srgbClr val="0B0D10"/>
                </a:solidFill>
                <a:latin typeface="Arial"/>
                <a:ea typeface="Arial"/>
                <a:cs typeface="Arial"/>
              </a:defRPr>
            </a:pPr>
            <a:r>
              <a:rPr sz="2025" b="1">
                <a:solidFill>
                  <a:srgbClr val="0B0D10"/>
                </a:solidFill>
                <a:latin typeface="Arial"/>
                <a:ea typeface="Arial"/>
                <a:cs typeface="Arial"/>
              </a:rPr>
              <a:t>The candidate is hashed before AI review and checked again immediately before execution.</a:t>
            </a:r>
          </a:p>
        </p:txBody>
      </p:sp>
      <p:sp>
        <p:nvSpPr>
          <p:cNvPr id="32" name="text-zgsrpl">
            <a:extLst xmlns:a="http://schemas.openxmlformats.org/drawingml/2006/main">
              <a:ext uri="{FF2B5EF4-FFF2-40B4-BE49-F238E27FC236}">
                <a16:creationId xmlns:a16="http://schemas.microsoft.com/office/drawing/2014/main" id="{C781D920-2D57-462D-990B-C463B4A24D9E}"/>
              </a:ext>
            </a:extLst>
          </p:cNvPr>
          <p:cNvSpPr>
            <a:spLocks xmlns:a="http://schemas.openxmlformats.org/drawingml/2006/main" noGrp="1"/>
          </p:cNvSpPr>
          <p:nvPr/>
        </p:nvSpPr>
        <p:spPr>
          <a:xfrm xmlns:a="http://schemas.openxmlformats.org/drawingml/2006/main">
            <a:off x="2152650" y="5391150"/>
            <a:ext cx="788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B6470"/>
                </a:solidFill>
                <a:latin typeface="Arial"/>
                <a:ea typeface="Arial"/>
                <a:cs typeface="Arial"/>
              </a:defRPr>
            </a:pPr>
            <a:r>
              <a:rPr sz="1350" b="0">
                <a:solidFill>
                  <a:srgbClr val="5B6470"/>
                </a:solidFill>
                <a:latin typeface="Arial"/>
                <a:ea typeface="Arial"/>
                <a:cs typeface="Arial"/>
              </a:rPr>
              <a:t>Completed bars only  •  fixed economics  •  idempotent order identity</a:t>
            </a:r>
          </a:p>
        </p:txBody>
      </p:sp>
    </p:spTree>
    <p:extLst>
      <p:ext uri="{BB962C8B-B14F-4D97-AF65-F5344CB8AC3E}">
        <p14:creationId xmlns:p14="http://schemas.microsoft.com/office/powerpoint/2010/main" val="8129968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4-title">
            <a:extLst xmlns:a="http://schemas.openxmlformats.org/drawingml/2006/main">
              <a:ext uri="{FF2B5EF4-FFF2-40B4-BE49-F238E27FC236}">
                <a16:creationId xmlns:a16="http://schemas.microsoft.com/office/drawing/2014/main" id="{7B826991-7201-491B-BD57-B8ADB3FE57EF}"/>
              </a:ext>
            </a:extLst>
          </p:cNvPr>
          <p:cNvSpPr>
            <a:spLocks xmlns:a="http://schemas.openxmlformats.org/drawingml/2006/main" noGrp="1"/>
          </p:cNvSpPr>
          <p:nvPr/>
        </p:nvSpPr>
        <p:spPr>
          <a:xfrm xmlns:a="http://schemas.openxmlformats.org/drawingml/2006/main">
            <a:off x="5334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0B0D10"/>
                </a:solidFill>
                <a:latin typeface="Arial"/>
                <a:ea typeface="Arial"/>
                <a:cs typeface="Arial"/>
              </a:defRPr>
            </a:pPr>
            <a:r>
              <a:rPr sz="3000" b="1">
                <a:solidFill>
                  <a:srgbClr val="0B0D10"/>
                </a:solidFill>
                <a:latin typeface="Arial"/>
                <a:ea typeface="Arial"/>
                <a:cs typeface="Arial"/>
              </a:rPr>
              <a:t>The AI critic can only reduce action</a:t>
            </a:r>
          </a:p>
        </p:txBody>
      </p:sp>
      <p:cxnSp>
        <p:nvCxnSpPr>
          <p:cNvPr id="21"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B8C0C8"/>
            </a:solidFill>
            <a:prstDash val="solid"/>
          </a:ln>
        </p:spPr>
      </p:cxnSp>
      <p:sp>
        <p:nvSpPr>
          <p:cNvPr id="3" name="text-omx83b">
            <a:extLst xmlns:a="http://schemas.openxmlformats.org/drawingml/2006/main">
              <a:ext uri="{FF2B5EF4-FFF2-40B4-BE49-F238E27FC236}">
                <a16:creationId xmlns:a16="http://schemas.microsoft.com/office/drawing/2014/main" id="{54CBFFB3-0B8C-4983-B3EE-47FF2D242241}"/>
              </a:ext>
            </a:extLst>
          </p:cNvPr>
          <p:cNvSpPr>
            <a:spLocks xmlns:a="http://schemas.openxmlformats.org/drawingml/2006/main" noGrp="1"/>
          </p:cNvSpPr>
          <p:nvPr/>
        </p:nvSpPr>
        <p:spPr>
          <a:xfrm xmlns:a="http://schemas.openxmlformats.org/drawingml/2006/main">
            <a:off x="11182350"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04</a:t>
            </a:r>
          </a:p>
        </p:txBody>
      </p:sp>
      <p:sp>
        <p:nvSpPr>
          <p:cNvPr id="4" name="text-tutidl">
            <a:extLst xmlns:a="http://schemas.openxmlformats.org/drawingml/2006/main">
              <a:ext uri="{FF2B5EF4-FFF2-40B4-BE49-F238E27FC236}">
                <a16:creationId xmlns:a16="http://schemas.microsoft.com/office/drawing/2014/main" id="{E0E1B93C-BD30-4BF4-95D6-A70D3D240EF0}"/>
              </a:ext>
            </a:extLst>
          </p:cNvPr>
          <p:cNvSpPr>
            <a:spLocks xmlns:a="http://schemas.openxmlformats.org/drawingml/2006/main" noGrp="1"/>
          </p:cNvSpPr>
          <p:nvPr/>
        </p:nvSpPr>
        <p:spPr>
          <a:xfrm xmlns:a="http://schemas.openxmlformats.org/drawingml/2006/main">
            <a:off x="533400" y="1943100"/>
            <a:ext cx="4095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17824B"/>
                </a:solidFill>
                <a:latin typeface="Arial"/>
                <a:ea typeface="Arial"/>
                <a:cs typeface="Arial"/>
              </a:defRPr>
            </a:pPr>
            <a:r>
              <a:rPr sz="4050" b="1">
                <a:solidFill>
                  <a:srgbClr val="17824B"/>
                </a:solidFill>
                <a:latin typeface="Arial"/>
                <a:ea typeface="Arial"/>
                <a:cs typeface="Arial"/>
              </a:rPr>
              <a:t>ALLOW</a:t>
            </a:r>
          </a:p>
        </p:txBody>
      </p:sp>
      <p:sp>
        <p:nvSpPr>
          <p:cNvPr id="5" name="text-kckx7v">
            <a:extLst xmlns:a="http://schemas.openxmlformats.org/drawingml/2006/main">
              <a:ext uri="{FF2B5EF4-FFF2-40B4-BE49-F238E27FC236}">
                <a16:creationId xmlns:a16="http://schemas.microsoft.com/office/drawing/2014/main" id="{06E14114-0610-4A8A-AA12-A5A93CD32AAE}"/>
              </a:ext>
            </a:extLst>
          </p:cNvPr>
          <p:cNvSpPr>
            <a:spLocks xmlns:a="http://schemas.openxmlformats.org/drawingml/2006/main" noGrp="1"/>
          </p:cNvSpPr>
          <p:nvPr/>
        </p:nvSpPr>
        <p:spPr>
          <a:xfrm xmlns:a="http://schemas.openxmlformats.org/drawingml/2006/main">
            <a:off x="533400" y="2762250"/>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B6470"/>
                </a:solidFill>
                <a:latin typeface="Arial"/>
                <a:ea typeface="Arial"/>
                <a:cs typeface="Arial"/>
              </a:defRPr>
            </a:pPr>
            <a:r>
              <a:rPr sz="1500" b="0">
                <a:solidFill>
                  <a:srgbClr val="5B6470"/>
                </a:solidFill>
                <a:latin typeface="Arial"/>
                <a:ea typeface="Arial"/>
                <a:cs typeface="Arial"/>
              </a:rPr>
              <a:t>or</a:t>
            </a:r>
          </a:p>
        </p:txBody>
      </p:sp>
      <p:sp>
        <p:nvSpPr>
          <p:cNvPr id="6" name="text-m2og69">
            <a:extLst xmlns:a="http://schemas.openxmlformats.org/drawingml/2006/main">
              <a:ext uri="{FF2B5EF4-FFF2-40B4-BE49-F238E27FC236}">
                <a16:creationId xmlns:a16="http://schemas.microsoft.com/office/drawing/2014/main" id="{60FCA818-E9EF-4BDA-B4A2-3089E3FB245C}"/>
              </a:ext>
            </a:extLst>
          </p:cNvPr>
          <p:cNvSpPr>
            <a:spLocks xmlns:a="http://schemas.openxmlformats.org/drawingml/2006/main" noGrp="1"/>
          </p:cNvSpPr>
          <p:nvPr/>
        </p:nvSpPr>
        <p:spPr>
          <a:xfrm xmlns:a="http://schemas.openxmlformats.org/drawingml/2006/main">
            <a:off x="533400" y="3190875"/>
            <a:ext cx="4095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C73535"/>
                </a:solidFill>
                <a:latin typeface="Arial"/>
                <a:ea typeface="Arial"/>
                <a:cs typeface="Arial"/>
              </a:defRPr>
            </a:pPr>
            <a:r>
              <a:rPr sz="4050" b="1">
                <a:solidFill>
                  <a:srgbClr val="C73535"/>
                </a:solidFill>
                <a:latin typeface="Arial"/>
                <a:ea typeface="Arial"/>
                <a:cs typeface="Arial"/>
              </a:rPr>
              <a:t>VETO</a:t>
            </a:r>
          </a:p>
        </p:txBody>
      </p:sp>
      <p:sp>
        <p:nvSpPr>
          <p:cNvPr id="7" name="text-j1vm2q">
            <a:extLst xmlns:a="http://schemas.openxmlformats.org/drawingml/2006/main">
              <a:ext uri="{FF2B5EF4-FFF2-40B4-BE49-F238E27FC236}">
                <a16:creationId xmlns:a16="http://schemas.microsoft.com/office/drawing/2014/main" id="{AD3164B0-20E5-4A46-8BBD-564F9843BDD2}"/>
              </a:ext>
            </a:extLst>
          </p:cNvPr>
          <p:cNvSpPr>
            <a:spLocks xmlns:a="http://schemas.openxmlformats.org/drawingml/2006/main" noGrp="1"/>
          </p:cNvSpPr>
          <p:nvPr/>
        </p:nvSpPr>
        <p:spPr>
          <a:xfrm xmlns:a="http://schemas.openxmlformats.org/drawingml/2006/main">
            <a:off x="533400" y="44005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0B0D10"/>
                </a:solidFill>
                <a:latin typeface="Arial"/>
                <a:ea typeface="Arial"/>
                <a:cs typeface="Arial"/>
              </a:defRPr>
            </a:pPr>
            <a:r>
              <a:rPr sz="1800" b="1">
                <a:solidFill>
                  <a:srgbClr val="0B0D10"/>
                </a:solidFill>
                <a:latin typeface="Arial"/>
                <a:ea typeface="Arial"/>
                <a:cs typeface="Arial"/>
              </a:rPr>
              <a:t>No trade editing. No execution tool.</a:t>
            </a:r>
          </a:p>
        </p:txBody>
      </p:sp>
      <p:cxnSp>
        <p:nvCxnSpPr>
          <p:cNvPr id="27" name=""/>
          <p:cNvCxnSpPr/>
          <p:nvPr/>
        </p:nvCxnSpPr>
        <p:spPr>
          <a:xfrm xmlns:a="http://schemas.openxmlformats.org/drawingml/2006/main">
            <a:off x="5676900" y="1714500"/>
            <a:ext cx="0" cy="4000500"/>
          </a:xfrm>
          <a:prstGeom xmlns:a="http://schemas.openxmlformats.org/drawingml/2006/main" prst="straightConnector1">
            <a:avLst/>
          </a:prstGeom>
          <a:ln xmlns:a="http://schemas.openxmlformats.org/drawingml/2006/main" w="9525">
            <a:solidFill>
              <a:srgbClr val="B8C0C8"/>
            </a:solidFill>
            <a:prstDash val="solid"/>
          </a:ln>
        </p:spPr>
      </p:cxnSp>
      <p:sp>
        <p:nvSpPr>
          <p:cNvPr id="9" name="text-2b0xrr">
            <a:extLst xmlns:a="http://schemas.openxmlformats.org/drawingml/2006/main">
              <a:ext uri="{FF2B5EF4-FFF2-40B4-BE49-F238E27FC236}">
                <a16:creationId xmlns:a16="http://schemas.microsoft.com/office/drawing/2014/main" id="{20441A0F-51E4-4B6D-915B-AAA6196B02D5}"/>
              </a:ext>
            </a:extLst>
          </p:cNvPr>
          <p:cNvSpPr>
            <a:spLocks xmlns:a="http://schemas.openxmlformats.org/drawingml/2006/main" noGrp="1"/>
          </p:cNvSpPr>
          <p:nvPr/>
        </p:nvSpPr>
        <p:spPr>
          <a:xfrm xmlns:a="http://schemas.openxmlformats.org/drawingml/2006/main">
            <a:off x="6248400" y="1752600"/>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2F80ED"/>
                </a:solidFill>
                <a:latin typeface="Arial"/>
                <a:ea typeface="Arial"/>
                <a:cs typeface="Arial"/>
              </a:defRPr>
            </a:pPr>
            <a:r>
              <a:rPr sz="1575" b="1">
                <a:solidFill>
                  <a:srgbClr val="2F80ED"/>
                </a:solidFill>
                <a:latin typeface="Arial"/>
                <a:ea typeface="Arial"/>
                <a:cs typeface="Arial"/>
              </a:rPr>
              <a:t>Immutable</a:t>
            </a:r>
          </a:p>
        </p:txBody>
      </p:sp>
      <p:sp>
        <p:nvSpPr>
          <p:cNvPr id="10" name="text-vpr484">
            <a:extLst xmlns:a="http://schemas.openxmlformats.org/drawingml/2006/main">
              <a:ext uri="{FF2B5EF4-FFF2-40B4-BE49-F238E27FC236}">
                <a16:creationId xmlns:a16="http://schemas.microsoft.com/office/drawing/2014/main" id="{C4937E8A-98BF-4DB9-A842-ECCCCCF60EBA}"/>
              </a:ext>
            </a:extLst>
          </p:cNvPr>
          <p:cNvSpPr>
            <a:spLocks xmlns:a="http://schemas.openxmlformats.org/drawingml/2006/main" noGrp="1"/>
          </p:cNvSpPr>
          <p:nvPr/>
        </p:nvSpPr>
        <p:spPr>
          <a:xfrm xmlns:a="http://schemas.openxmlformats.org/drawingml/2006/main">
            <a:off x="7886700" y="1752600"/>
            <a:ext cx="3600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B6470"/>
                </a:solidFill>
                <a:latin typeface="Arial"/>
                <a:ea typeface="Arial"/>
                <a:cs typeface="Arial"/>
              </a:defRPr>
            </a:pPr>
            <a:r>
              <a:rPr sz="1275" b="0">
                <a:solidFill>
                  <a:srgbClr val="5B6470"/>
                </a:solidFill>
                <a:latin typeface="Arial"/>
                <a:ea typeface="Arial"/>
                <a:cs typeface="Arial"/>
              </a:rPr>
              <a:t>symbol / strikes / expiry / size / price</a:t>
            </a:r>
          </a:p>
        </p:txBody>
      </p:sp>
      <p:cxnSp>
        <p:nvCxnSpPr>
          <p:cNvPr id="30" name=""/>
          <p:cNvCxnSpPr/>
          <p:nvPr/>
        </p:nvCxnSpPr>
        <p:spPr>
          <a:xfrm xmlns:a="http://schemas.openxmlformats.org/drawingml/2006/main">
            <a:off x="6248400" y="2466975"/>
            <a:ext cx="5238750" cy="0"/>
          </a:xfrm>
          <a:prstGeom xmlns:a="http://schemas.openxmlformats.org/drawingml/2006/main" prst="straightConnector1">
            <a:avLst/>
          </a:prstGeom>
          <a:ln xmlns:a="http://schemas.openxmlformats.org/drawingml/2006/main" w="9525">
            <a:solidFill>
              <a:srgbClr val="B8C0C8"/>
            </a:solidFill>
            <a:prstDash val="solid"/>
          </a:ln>
        </p:spPr>
      </p:cxnSp>
      <p:sp>
        <p:nvSpPr>
          <p:cNvPr id="12" name="text-t6vhcb">
            <a:extLst xmlns:a="http://schemas.openxmlformats.org/drawingml/2006/main">
              <a:ext uri="{FF2B5EF4-FFF2-40B4-BE49-F238E27FC236}">
                <a16:creationId xmlns:a16="http://schemas.microsoft.com/office/drawing/2014/main" id="{A373FE65-CA8E-4D3C-94B8-96962798EF21}"/>
              </a:ext>
            </a:extLst>
          </p:cNvPr>
          <p:cNvSpPr>
            <a:spLocks xmlns:a="http://schemas.openxmlformats.org/drawingml/2006/main" noGrp="1"/>
          </p:cNvSpPr>
          <p:nvPr/>
        </p:nvSpPr>
        <p:spPr>
          <a:xfrm xmlns:a="http://schemas.openxmlformats.org/drawingml/2006/main">
            <a:off x="6248400" y="2714625"/>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2F80ED"/>
                </a:solidFill>
                <a:latin typeface="Arial"/>
                <a:ea typeface="Arial"/>
                <a:cs typeface="Arial"/>
              </a:defRPr>
            </a:pPr>
            <a:r>
              <a:rPr sz="1575" b="1">
                <a:solidFill>
                  <a:srgbClr val="2F80ED"/>
                </a:solidFill>
                <a:latin typeface="Arial"/>
                <a:ea typeface="Arial"/>
                <a:cs typeface="Arial"/>
              </a:rPr>
              <a:t>Evidence-bound</a:t>
            </a:r>
          </a:p>
        </p:txBody>
      </p:sp>
      <p:sp>
        <p:nvSpPr>
          <p:cNvPr id="13" name="text-5i6q3o">
            <a:extLst xmlns:a="http://schemas.openxmlformats.org/drawingml/2006/main">
              <a:ext uri="{FF2B5EF4-FFF2-40B4-BE49-F238E27FC236}">
                <a16:creationId xmlns:a16="http://schemas.microsoft.com/office/drawing/2014/main" id="{4C4AB3F8-F7A8-43CD-AAF0-4D3EA28A22D5}"/>
              </a:ext>
            </a:extLst>
          </p:cNvPr>
          <p:cNvSpPr>
            <a:spLocks xmlns:a="http://schemas.openxmlformats.org/drawingml/2006/main" noGrp="1"/>
          </p:cNvSpPr>
          <p:nvPr/>
        </p:nvSpPr>
        <p:spPr>
          <a:xfrm xmlns:a="http://schemas.openxmlformats.org/drawingml/2006/main">
            <a:off x="7886700" y="2714625"/>
            <a:ext cx="3600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B6470"/>
                </a:solidFill>
                <a:latin typeface="Arial"/>
                <a:ea typeface="Arial"/>
                <a:cs typeface="Arial"/>
              </a:defRPr>
            </a:pPr>
            <a:r>
              <a:rPr sz="1275" b="0">
                <a:solidFill>
                  <a:srgbClr val="5B6470"/>
                </a:solidFill>
                <a:latin typeface="Arial"/>
                <a:ea typeface="Arial"/>
                <a:cs typeface="Arial"/>
              </a:rPr>
              <a:t>all cited evidence IDs must be provided</a:t>
            </a:r>
          </a:p>
        </p:txBody>
      </p:sp>
      <p:cxnSp>
        <p:nvCxnSpPr>
          <p:cNvPr id="33" name=""/>
          <p:cNvCxnSpPr/>
          <p:nvPr/>
        </p:nvCxnSpPr>
        <p:spPr>
          <a:xfrm xmlns:a="http://schemas.openxmlformats.org/drawingml/2006/main">
            <a:off x="6248400" y="3429000"/>
            <a:ext cx="5238750" cy="0"/>
          </a:xfrm>
          <a:prstGeom xmlns:a="http://schemas.openxmlformats.org/drawingml/2006/main" prst="straightConnector1">
            <a:avLst/>
          </a:prstGeom>
          <a:ln xmlns:a="http://schemas.openxmlformats.org/drawingml/2006/main" w="9525">
            <a:solidFill>
              <a:srgbClr val="B8C0C8"/>
            </a:solidFill>
            <a:prstDash val="solid"/>
          </a:ln>
        </p:spPr>
      </p:cxnSp>
      <p:sp>
        <p:nvSpPr>
          <p:cNvPr id="15" name="text-pi68ld">
            <a:extLst xmlns:a="http://schemas.openxmlformats.org/drawingml/2006/main">
              <a:ext uri="{FF2B5EF4-FFF2-40B4-BE49-F238E27FC236}">
                <a16:creationId xmlns:a16="http://schemas.microsoft.com/office/drawing/2014/main" id="{87C1550D-02B9-4DB2-8D97-1CD19BE7D6D4}"/>
              </a:ext>
            </a:extLst>
          </p:cNvPr>
          <p:cNvSpPr>
            <a:spLocks xmlns:a="http://schemas.openxmlformats.org/drawingml/2006/main" noGrp="1"/>
          </p:cNvSpPr>
          <p:nvPr/>
        </p:nvSpPr>
        <p:spPr>
          <a:xfrm xmlns:a="http://schemas.openxmlformats.org/drawingml/2006/main">
            <a:off x="6248400" y="3676650"/>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2F80ED"/>
                </a:solidFill>
                <a:latin typeface="Arial"/>
                <a:ea typeface="Arial"/>
                <a:cs typeface="Arial"/>
              </a:defRPr>
            </a:pPr>
            <a:r>
              <a:rPr sz="1575" b="1">
                <a:solidFill>
                  <a:srgbClr val="2F80ED"/>
                </a:solidFill>
                <a:latin typeface="Arial"/>
                <a:ea typeface="Arial"/>
                <a:cs typeface="Arial"/>
              </a:rPr>
              <a:t>Fail-closed</a:t>
            </a:r>
          </a:p>
        </p:txBody>
      </p:sp>
      <p:sp>
        <p:nvSpPr>
          <p:cNvPr id="16" name="text-hhxt6p">
            <a:extLst xmlns:a="http://schemas.openxmlformats.org/drawingml/2006/main">
              <a:ext uri="{FF2B5EF4-FFF2-40B4-BE49-F238E27FC236}">
                <a16:creationId xmlns:a16="http://schemas.microsoft.com/office/drawing/2014/main" id="{C1B18231-D265-4FB7-8E14-1C54BD43A806}"/>
              </a:ext>
            </a:extLst>
          </p:cNvPr>
          <p:cNvSpPr>
            <a:spLocks xmlns:a="http://schemas.openxmlformats.org/drawingml/2006/main" noGrp="1"/>
          </p:cNvSpPr>
          <p:nvPr/>
        </p:nvSpPr>
        <p:spPr>
          <a:xfrm xmlns:a="http://schemas.openxmlformats.org/drawingml/2006/main">
            <a:off x="7886700" y="3676650"/>
            <a:ext cx="3600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B6470"/>
                </a:solidFill>
                <a:latin typeface="Arial"/>
                <a:ea typeface="Arial"/>
                <a:cs typeface="Arial"/>
              </a:defRPr>
            </a:pPr>
            <a:r>
              <a:rPr sz="1275" b="0">
                <a:solidFill>
                  <a:srgbClr val="5B6470"/>
                </a:solidFill>
                <a:latin typeface="Arial"/>
                <a:ea typeface="Arial"/>
                <a:cs typeface="Arial"/>
              </a:rPr>
              <a:t>timeout / bad schema / mutation = VETO</a:t>
            </a:r>
          </a:p>
        </p:txBody>
      </p:sp>
      <p:cxnSp>
        <p:nvCxnSpPr>
          <p:cNvPr id="36" name=""/>
          <p:cNvCxnSpPr/>
          <p:nvPr/>
        </p:nvCxnSpPr>
        <p:spPr>
          <a:xfrm xmlns:a="http://schemas.openxmlformats.org/drawingml/2006/main">
            <a:off x="6248400" y="4391025"/>
            <a:ext cx="5238750" cy="0"/>
          </a:xfrm>
          <a:prstGeom xmlns:a="http://schemas.openxmlformats.org/drawingml/2006/main" prst="straightConnector1">
            <a:avLst/>
          </a:prstGeom>
          <a:ln xmlns:a="http://schemas.openxmlformats.org/drawingml/2006/main" w="9525">
            <a:solidFill>
              <a:srgbClr val="B8C0C8"/>
            </a:solidFill>
            <a:prstDash val="solid"/>
          </a:ln>
        </p:spPr>
      </p:cxnSp>
      <p:sp>
        <p:nvSpPr>
          <p:cNvPr id="18" name="text-e8f25f">
            <a:extLst xmlns:a="http://schemas.openxmlformats.org/drawingml/2006/main">
              <a:ext uri="{FF2B5EF4-FFF2-40B4-BE49-F238E27FC236}">
                <a16:creationId xmlns:a16="http://schemas.microsoft.com/office/drawing/2014/main" id="{8D985F9D-2116-4714-AC3A-E5BD1B638226}"/>
              </a:ext>
            </a:extLst>
          </p:cNvPr>
          <p:cNvSpPr>
            <a:spLocks xmlns:a="http://schemas.openxmlformats.org/drawingml/2006/main" noGrp="1"/>
          </p:cNvSpPr>
          <p:nvPr/>
        </p:nvSpPr>
        <p:spPr>
          <a:xfrm xmlns:a="http://schemas.openxmlformats.org/drawingml/2006/main">
            <a:off x="6248400" y="4638675"/>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2F80ED"/>
                </a:solidFill>
                <a:latin typeface="Arial"/>
                <a:ea typeface="Arial"/>
                <a:cs typeface="Arial"/>
              </a:defRPr>
            </a:pPr>
            <a:r>
              <a:rPr sz="1575" b="1">
                <a:solidFill>
                  <a:srgbClr val="2F80ED"/>
                </a:solidFill>
                <a:latin typeface="Arial"/>
                <a:ea typeface="Arial"/>
                <a:cs typeface="Arial"/>
              </a:rPr>
              <a:t>Rechecked</a:t>
            </a:r>
          </a:p>
        </p:txBody>
      </p:sp>
      <p:sp>
        <p:nvSpPr>
          <p:cNvPr id="19" name="text-vuuxzs">
            <a:extLst xmlns:a="http://schemas.openxmlformats.org/drawingml/2006/main">
              <a:ext uri="{FF2B5EF4-FFF2-40B4-BE49-F238E27FC236}">
                <a16:creationId xmlns:a16="http://schemas.microsoft.com/office/drawing/2014/main" id="{E0444446-E4C2-45B7-9F37-6A5AFBCB7658}"/>
              </a:ext>
            </a:extLst>
          </p:cNvPr>
          <p:cNvSpPr>
            <a:spLocks xmlns:a="http://schemas.openxmlformats.org/drawingml/2006/main" noGrp="1"/>
          </p:cNvSpPr>
          <p:nvPr/>
        </p:nvSpPr>
        <p:spPr>
          <a:xfrm xmlns:a="http://schemas.openxmlformats.org/drawingml/2006/main">
            <a:off x="7886700" y="4638675"/>
            <a:ext cx="3600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B6470"/>
                </a:solidFill>
                <a:latin typeface="Arial"/>
                <a:ea typeface="Arial"/>
                <a:cs typeface="Arial"/>
              </a:defRPr>
            </a:pPr>
            <a:r>
              <a:rPr sz="1275" b="0">
                <a:solidFill>
                  <a:srgbClr val="5B6470"/>
                </a:solidFill>
                <a:latin typeface="Arial"/>
                <a:ea typeface="Arial"/>
                <a:cs typeface="Arial"/>
              </a:rPr>
              <a:t>deterministic limits run after the model</a:t>
            </a:r>
          </a:p>
        </p:txBody>
      </p:sp>
    </p:spTree>
    <p:extLst>
      <p:ext uri="{BB962C8B-B14F-4D97-AF65-F5344CB8AC3E}">
        <p14:creationId xmlns:p14="http://schemas.microsoft.com/office/powerpoint/2010/main" val="1443704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5-title">
            <a:extLst xmlns:a="http://schemas.openxmlformats.org/drawingml/2006/main">
              <a:ext uri="{FF2B5EF4-FFF2-40B4-BE49-F238E27FC236}">
                <a16:creationId xmlns:a16="http://schemas.microsoft.com/office/drawing/2014/main" id="{002B5F4B-5023-49CE-B064-14C89382D545}"/>
              </a:ext>
            </a:extLst>
          </p:cNvPr>
          <p:cNvSpPr>
            <a:spLocks xmlns:a="http://schemas.openxmlformats.org/drawingml/2006/main" noGrp="1"/>
          </p:cNvSpPr>
          <p:nvPr/>
        </p:nvSpPr>
        <p:spPr>
          <a:xfrm xmlns:a="http://schemas.openxmlformats.org/drawingml/2006/main">
            <a:off x="5334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0B0D10"/>
                </a:solidFill>
                <a:latin typeface="Arial"/>
                <a:ea typeface="Arial"/>
                <a:cs typeface="Arial"/>
              </a:defRPr>
            </a:pPr>
            <a:r>
              <a:rPr sz="3000" b="1">
                <a:solidFill>
                  <a:srgbClr val="0B0D10"/>
                </a:solidFill>
                <a:latin typeface="Arial"/>
                <a:ea typeface="Arial"/>
                <a:cs typeface="Arial"/>
              </a:rPr>
              <a:t>Thirty-two checks run after the model</a:t>
            </a:r>
          </a:p>
        </p:txBody>
      </p:sp>
      <p:cxnSp>
        <p:nvCxnSpPr>
          <p:cNvPr id="19"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B8C0C8"/>
            </a:solidFill>
            <a:prstDash val="solid"/>
          </a:ln>
        </p:spPr>
      </p:cxnSp>
      <p:sp>
        <p:nvSpPr>
          <p:cNvPr id="3" name="text-fwdniw">
            <a:extLst xmlns:a="http://schemas.openxmlformats.org/drawingml/2006/main">
              <a:ext uri="{FF2B5EF4-FFF2-40B4-BE49-F238E27FC236}">
                <a16:creationId xmlns:a16="http://schemas.microsoft.com/office/drawing/2014/main" id="{D6202705-8000-4710-A3C7-9646032625D1}"/>
              </a:ext>
            </a:extLst>
          </p:cNvPr>
          <p:cNvSpPr>
            <a:spLocks xmlns:a="http://schemas.openxmlformats.org/drawingml/2006/main" noGrp="1"/>
          </p:cNvSpPr>
          <p:nvPr/>
        </p:nvSpPr>
        <p:spPr>
          <a:xfrm xmlns:a="http://schemas.openxmlformats.org/drawingml/2006/main">
            <a:off x="11182350"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05</a:t>
            </a:r>
          </a:p>
        </p:txBody>
      </p:sp>
      <p:sp>
        <p:nvSpPr>
          <p:cNvPr id="4" name="text-omymwe">
            <a:extLst xmlns:a="http://schemas.openxmlformats.org/drawingml/2006/main">
              <a:ext uri="{FF2B5EF4-FFF2-40B4-BE49-F238E27FC236}">
                <a16:creationId xmlns:a16="http://schemas.microsoft.com/office/drawing/2014/main" id="{989723D8-3AFF-4B6F-B140-80F7F6B49C98}"/>
              </a:ext>
            </a:extLst>
          </p:cNvPr>
          <p:cNvSpPr>
            <a:spLocks xmlns:a="http://schemas.openxmlformats.org/drawingml/2006/main" noGrp="1"/>
          </p:cNvSpPr>
          <p:nvPr/>
        </p:nvSpPr>
        <p:spPr>
          <a:xfrm xmlns:a="http://schemas.openxmlformats.org/drawingml/2006/main">
            <a:off x="533400" y="14478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B6470"/>
                </a:solidFill>
                <a:latin typeface="Arial"/>
                <a:ea typeface="Arial"/>
                <a:cs typeface="Arial"/>
              </a:defRPr>
            </a:pPr>
            <a:r>
              <a:rPr sz="1800" b="0">
                <a:solidFill>
                  <a:srgbClr val="5B6470"/>
                </a:solidFill>
                <a:latin typeface="Arial"/>
                <a:ea typeface="Arial"/>
                <a:cs typeface="Arial"/>
              </a:rPr>
              <a:t>Each gate records its observed value, limit, outcome, and explanation.</a:t>
            </a:r>
          </a:p>
        </p:txBody>
      </p:sp>
      <p:sp>
        <p:nvSpPr>
          <p:cNvPr id="5" name="box-5q3q25">
            <a:extLst xmlns:a="http://schemas.openxmlformats.org/drawingml/2006/main">
              <a:ext uri="{FF2B5EF4-FFF2-40B4-BE49-F238E27FC236}">
                <a16:creationId xmlns:a16="http://schemas.microsoft.com/office/drawing/2014/main" id="{01D4BA3E-5858-4CB0-99BC-C0E6BAA22BCE}"/>
              </a:ext>
            </a:extLst>
          </p:cNvPr>
          <p:cNvSpPr>
            <a:spLocks xmlns:a="http://schemas.openxmlformats.org/drawingml/2006/main" noGrp="1"/>
          </p:cNvSpPr>
          <p:nvPr/>
        </p:nvSpPr>
        <p:spPr>
          <a:xfrm xmlns:a="http://schemas.openxmlformats.org/drawingml/2006/main">
            <a:off x="533400" y="2419350"/>
            <a:ext cx="3333750" cy="2857500"/>
          </a:xfrm>
          <a:prstGeom xmlns:a="http://schemas.openxmlformats.org/drawingml/2006/main" prst="rect">
            <a:avLst/>
          </a:prstGeom>
          <a:solidFill xmlns:a="http://schemas.openxmlformats.org/drawingml/2006/main">
            <a:srgbClr val="DCEEFF"/>
          </a:solidFill>
          <a:ln xmlns:a="http://schemas.openxmlformats.org/drawingml/2006/main" w="19050">
            <a:solidFill>
              <a:srgbClr val="2F80ED"/>
            </a:solidFill>
            <a:prstDash val="solid"/>
          </a:ln>
        </p:spPr>
      </p:sp>
      <p:sp>
        <p:nvSpPr>
          <p:cNvPr id="6" name="text-mrz9m8">
            <a:extLst xmlns:a="http://schemas.openxmlformats.org/drawingml/2006/main">
              <a:ext uri="{FF2B5EF4-FFF2-40B4-BE49-F238E27FC236}">
                <a16:creationId xmlns:a16="http://schemas.microsoft.com/office/drawing/2014/main" id="{27E808B7-52F2-4AA7-A72A-86C9662ADCDA}"/>
              </a:ext>
            </a:extLst>
          </p:cNvPr>
          <p:cNvSpPr>
            <a:spLocks xmlns:a="http://schemas.openxmlformats.org/drawingml/2006/main" noGrp="1"/>
          </p:cNvSpPr>
          <p:nvPr/>
        </p:nvSpPr>
        <p:spPr>
          <a:xfrm xmlns:a="http://schemas.openxmlformats.org/drawingml/2006/main">
            <a:off x="762000" y="2724150"/>
            <a:ext cx="2876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2F80ED"/>
                </a:solidFill>
                <a:latin typeface="Arial"/>
                <a:ea typeface="Arial"/>
                <a:cs typeface="Arial"/>
              </a:defRPr>
            </a:pPr>
            <a:r>
              <a:rPr sz="4050" b="1">
                <a:solidFill>
                  <a:srgbClr val="2F80ED"/>
                </a:solidFill>
                <a:latin typeface="Arial"/>
                <a:ea typeface="Arial"/>
                <a:cs typeface="Arial"/>
              </a:rPr>
              <a:t>32</a:t>
            </a:r>
          </a:p>
        </p:txBody>
      </p:sp>
      <p:sp>
        <p:nvSpPr>
          <p:cNvPr id="7" name="text-p1ubht">
            <a:extLst xmlns:a="http://schemas.openxmlformats.org/drawingml/2006/main">
              <a:ext uri="{FF2B5EF4-FFF2-40B4-BE49-F238E27FC236}">
                <a16:creationId xmlns:a16="http://schemas.microsoft.com/office/drawing/2014/main" id="{582A3364-6FEA-4CA0-BD7B-72DC73F5BA3D}"/>
              </a:ext>
            </a:extLst>
          </p:cNvPr>
          <p:cNvSpPr>
            <a:spLocks xmlns:a="http://schemas.openxmlformats.org/drawingml/2006/main" noGrp="1"/>
          </p:cNvSpPr>
          <p:nvPr/>
        </p:nvSpPr>
        <p:spPr>
          <a:xfrm xmlns:a="http://schemas.openxmlformats.org/drawingml/2006/main">
            <a:off x="762000" y="3695700"/>
            <a:ext cx="2876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0"/>
                </a:solidFill>
                <a:latin typeface="Arial"/>
                <a:ea typeface="Arial"/>
                <a:cs typeface="Arial"/>
              </a:defRPr>
            </a:pPr>
            <a:r>
              <a:rPr sz="1725" b="1">
                <a:solidFill>
                  <a:srgbClr val="0B0D10"/>
                </a:solidFill>
                <a:latin typeface="Arial"/>
                <a:ea typeface="Arial"/>
                <a:cs typeface="Arial"/>
              </a:rPr>
              <a:t>deterministic gates</a:t>
            </a:r>
          </a:p>
        </p:txBody>
      </p:sp>
      <p:sp>
        <p:nvSpPr>
          <p:cNvPr id="8" name="text-5riv6u">
            <a:extLst xmlns:a="http://schemas.openxmlformats.org/drawingml/2006/main">
              <a:ext uri="{FF2B5EF4-FFF2-40B4-BE49-F238E27FC236}">
                <a16:creationId xmlns:a16="http://schemas.microsoft.com/office/drawing/2014/main" id="{716E40DD-5215-43A0-8EF8-BE4DA6F4E6BF}"/>
              </a:ext>
            </a:extLst>
          </p:cNvPr>
          <p:cNvSpPr>
            <a:spLocks xmlns:a="http://schemas.openxmlformats.org/drawingml/2006/main" noGrp="1"/>
          </p:cNvSpPr>
          <p:nvPr/>
        </p:nvSpPr>
        <p:spPr>
          <a:xfrm xmlns:a="http://schemas.openxmlformats.org/drawingml/2006/main">
            <a:off x="762000" y="4286250"/>
            <a:ext cx="2876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identity, economics, structure, liquidity and state</a:t>
            </a:r>
          </a:p>
        </p:txBody>
      </p:sp>
      <p:sp>
        <p:nvSpPr>
          <p:cNvPr id="9" name="box-bchlgh">
            <a:extLst xmlns:a="http://schemas.openxmlformats.org/drawingml/2006/main">
              <a:ext uri="{FF2B5EF4-FFF2-40B4-BE49-F238E27FC236}">
                <a16:creationId xmlns:a16="http://schemas.microsoft.com/office/drawing/2014/main" id="{E18ADC8D-ADD8-45B6-817F-F9667766D9EB}"/>
              </a:ext>
            </a:extLst>
          </p:cNvPr>
          <p:cNvSpPr>
            <a:spLocks xmlns:a="http://schemas.openxmlformats.org/drawingml/2006/main" noGrp="1"/>
          </p:cNvSpPr>
          <p:nvPr/>
        </p:nvSpPr>
        <p:spPr>
          <a:xfrm xmlns:a="http://schemas.openxmlformats.org/drawingml/2006/main">
            <a:off x="4248150" y="2419350"/>
            <a:ext cx="3333750" cy="28575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10" name="text-n7bwed">
            <a:extLst xmlns:a="http://schemas.openxmlformats.org/drawingml/2006/main">
              <a:ext uri="{FF2B5EF4-FFF2-40B4-BE49-F238E27FC236}">
                <a16:creationId xmlns:a16="http://schemas.microsoft.com/office/drawing/2014/main" id="{59A189D8-D57B-4C83-99C9-2E222E925206}"/>
              </a:ext>
            </a:extLst>
          </p:cNvPr>
          <p:cNvSpPr>
            <a:spLocks xmlns:a="http://schemas.openxmlformats.org/drawingml/2006/main" noGrp="1"/>
          </p:cNvSpPr>
          <p:nvPr/>
        </p:nvSpPr>
        <p:spPr>
          <a:xfrm xmlns:a="http://schemas.openxmlformats.org/drawingml/2006/main">
            <a:off x="4476750" y="2724150"/>
            <a:ext cx="2876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0B0D10"/>
                </a:solidFill>
                <a:latin typeface="Arial"/>
                <a:ea typeface="Arial"/>
                <a:cs typeface="Arial"/>
              </a:defRPr>
            </a:pPr>
            <a:r>
              <a:rPr sz="4050" b="1">
                <a:solidFill>
                  <a:srgbClr val="0B0D10"/>
                </a:solidFill>
                <a:latin typeface="Arial"/>
                <a:ea typeface="Arial"/>
                <a:cs typeface="Arial"/>
              </a:rPr>
              <a:t>1.00%</a:t>
            </a:r>
          </a:p>
        </p:txBody>
      </p:sp>
      <p:sp>
        <p:nvSpPr>
          <p:cNvPr id="11" name="text-mxwf3y">
            <a:extLst xmlns:a="http://schemas.openxmlformats.org/drawingml/2006/main">
              <a:ext uri="{FF2B5EF4-FFF2-40B4-BE49-F238E27FC236}">
                <a16:creationId xmlns:a16="http://schemas.microsoft.com/office/drawing/2014/main" id="{72E23F08-BE65-4549-BD35-44057A8AEC6E}"/>
              </a:ext>
            </a:extLst>
          </p:cNvPr>
          <p:cNvSpPr>
            <a:spLocks xmlns:a="http://schemas.openxmlformats.org/drawingml/2006/main" noGrp="1"/>
          </p:cNvSpPr>
          <p:nvPr/>
        </p:nvSpPr>
        <p:spPr>
          <a:xfrm xmlns:a="http://schemas.openxmlformats.org/drawingml/2006/main">
            <a:off x="4476750" y="3695700"/>
            <a:ext cx="2876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0"/>
                </a:solidFill>
                <a:latin typeface="Arial"/>
                <a:ea typeface="Arial"/>
                <a:cs typeface="Arial"/>
              </a:defRPr>
            </a:pPr>
            <a:r>
              <a:rPr sz="1725" b="1">
                <a:solidFill>
                  <a:srgbClr val="0B0D10"/>
                </a:solidFill>
                <a:latin typeface="Arial"/>
                <a:ea typeface="Arial"/>
                <a:cs typeface="Arial"/>
              </a:rPr>
              <a:t>max options exposure</a:t>
            </a:r>
          </a:p>
        </p:txBody>
      </p:sp>
      <p:sp>
        <p:nvSpPr>
          <p:cNvPr id="12" name="text-c9aapb">
            <a:extLst xmlns:a="http://schemas.openxmlformats.org/drawingml/2006/main">
              <a:ext uri="{FF2B5EF4-FFF2-40B4-BE49-F238E27FC236}">
                <a16:creationId xmlns:a16="http://schemas.microsoft.com/office/drawing/2014/main" id="{A60AE562-80AA-4493-83CB-EB0BF6542F36}"/>
              </a:ext>
            </a:extLst>
          </p:cNvPr>
          <p:cNvSpPr>
            <a:spLocks xmlns:a="http://schemas.openxmlformats.org/drawingml/2006/main" noGrp="1"/>
          </p:cNvSpPr>
          <p:nvPr/>
        </p:nvSpPr>
        <p:spPr>
          <a:xfrm xmlns:a="http://schemas.openxmlformats.org/drawingml/2006/main">
            <a:off x="4476750" y="4286250"/>
            <a:ext cx="2876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default portfolio boundary before a new entry</a:t>
            </a:r>
          </a:p>
        </p:txBody>
      </p:sp>
      <p:sp>
        <p:nvSpPr>
          <p:cNvPr id="13" name="box-pxvlj9">
            <a:extLst xmlns:a="http://schemas.openxmlformats.org/drawingml/2006/main">
              <a:ext uri="{FF2B5EF4-FFF2-40B4-BE49-F238E27FC236}">
                <a16:creationId xmlns:a16="http://schemas.microsoft.com/office/drawing/2014/main" id="{5D9D379E-324F-4AF6-A269-CEE3CC935527}"/>
              </a:ext>
            </a:extLst>
          </p:cNvPr>
          <p:cNvSpPr>
            <a:spLocks xmlns:a="http://schemas.openxmlformats.org/drawingml/2006/main" noGrp="1"/>
          </p:cNvSpPr>
          <p:nvPr/>
        </p:nvSpPr>
        <p:spPr>
          <a:xfrm xmlns:a="http://schemas.openxmlformats.org/drawingml/2006/main">
            <a:off x="7962900" y="2419350"/>
            <a:ext cx="3333750" cy="28575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14" name="text-ajhk8j">
            <a:extLst xmlns:a="http://schemas.openxmlformats.org/drawingml/2006/main">
              <a:ext uri="{FF2B5EF4-FFF2-40B4-BE49-F238E27FC236}">
                <a16:creationId xmlns:a16="http://schemas.microsoft.com/office/drawing/2014/main" id="{412BB2D1-F95E-45EA-B64E-05EBE2E52E76}"/>
              </a:ext>
            </a:extLst>
          </p:cNvPr>
          <p:cNvSpPr>
            <a:spLocks xmlns:a="http://schemas.openxmlformats.org/drawingml/2006/main" noGrp="1"/>
          </p:cNvSpPr>
          <p:nvPr/>
        </p:nvSpPr>
        <p:spPr>
          <a:xfrm xmlns:a="http://schemas.openxmlformats.org/drawingml/2006/main">
            <a:off x="8191500" y="2724150"/>
            <a:ext cx="2876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050" b="1">
                <a:solidFill>
                  <a:srgbClr val="0B0D10"/>
                </a:solidFill>
                <a:latin typeface="Arial"/>
                <a:ea typeface="Arial"/>
                <a:cs typeface="Arial"/>
              </a:defRPr>
            </a:pPr>
            <a:r>
              <a:rPr sz="4050" b="1">
                <a:solidFill>
                  <a:srgbClr val="0B0D10"/>
                </a:solidFill>
                <a:latin typeface="Arial"/>
                <a:ea typeface="Arial"/>
                <a:cs typeface="Arial"/>
              </a:rPr>
              <a:t>0</a:t>
            </a:r>
          </a:p>
        </p:txBody>
      </p:sp>
      <p:sp>
        <p:nvSpPr>
          <p:cNvPr id="15" name="text-0u6zq8">
            <a:extLst xmlns:a="http://schemas.openxmlformats.org/drawingml/2006/main">
              <a:ext uri="{FF2B5EF4-FFF2-40B4-BE49-F238E27FC236}">
                <a16:creationId xmlns:a16="http://schemas.microsoft.com/office/drawing/2014/main" id="{CA733BBA-A87A-4FA1-9A32-EEBEC3848145}"/>
              </a:ext>
            </a:extLst>
          </p:cNvPr>
          <p:cNvSpPr>
            <a:spLocks xmlns:a="http://schemas.openxmlformats.org/drawingml/2006/main" noGrp="1"/>
          </p:cNvSpPr>
          <p:nvPr/>
        </p:nvSpPr>
        <p:spPr>
          <a:xfrm xmlns:a="http://schemas.openxmlformats.org/drawingml/2006/main">
            <a:off x="8191500" y="3695700"/>
            <a:ext cx="2876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0"/>
                </a:solidFill>
                <a:latin typeface="Arial"/>
                <a:ea typeface="Arial"/>
                <a:cs typeface="Arial"/>
              </a:defRPr>
            </a:pPr>
            <a:r>
              <a:rPr sz="1725" b="1">
                <a:solidFill>
                  <a:srgbClr val="0B0D10"/>
                </a:solidFill>
                <a:latin typeface="Arial"/>
                <a:ea typeface="Arial"/>
                <a:cs typeface="Arial"/>
              </a:rPr>
              <a:t>live trading paths</a:t>
            </a:r>
          </a:p>
        </p:txBody>
      </p:sp>
      <p:sp>
        <p:nvSpPr>
          <p:cNvPr id="16" name="text-0smaah">
            <a:extLst xmlns:a="http://schemas.openxmlformats.org/drawingml/2006/main">
              <a:ext uri="{FF2B5EF4-FFF2-40B4-BE49-F238E27FC236}">
                <a16:creationId xmlns:a16="http://schemas.microsoft.com/office/drawing/2014/main" id="{27345E17-DE4F-43CD-AE74-65D2AEA2E67E}"/>
              </a:ext>
            </a:extLst>
          </p:cNvPr>
          <p:cNvSpPr>
            <a:spLocks xmlns:a="http://schemas.openxmlformats.org/drawingml/2006/main" noGrp="1"/>
          </p:cNvSpPr>
          <p:nvPr/>
        </p:nvSpPr>
        <p:spPr>
          <a:xfrm xmlns:a="http://schemas.openxmlformats.org/drawingml/2006/main">
            <a:off x="8191500" y="4286250"/>
            <a:ext cx="2876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paper mode is enforced in configuration and execution</a:t>
            </a:r>
          </a:p>
        </p:txBody>
      </p:sp>
      <p:sp>
        <p:nvSpPr>
          <p:cNvPr id="17" name="text-s7cwj9">
            <a:extLst xmlns:a="http://schemas.openxmlformats.org/drawingml/2006/main">
              <a:ext uri="{FF2B5EF4-FFF2-40B4-BE49-F238E27FC236}">
                <a16:creationId xmlns:a16="http://schemas.microsoft.com/office/drawing/2014/main" id="{D9B39620-060F-4B83-B9A5-B579F3ABEEF7}"/>
              </a:ext>
            </a:extLst>
          </p:cNvPr>
          <p:cNvSpPr>
            <a:spLocks xmlns:a="http://schemas.openxmlformats.org/drawingml/2006/main" noGrp="1"/>
          </p:cNvSpPr>
          <p:nvPr/>
        </p:nvSpPr>
        <p:spPr>
          <a:xfrm xmlns:a="http://schemas.openxmlformats.org/drawingml/2006/main">
            <a:off x="533400" y="56578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0"/>
                </a:solidFill>
                <a:latin typeface="Arial"/>
                <a:ea typeface="Arial"/>
                <a:cs typeface="Arial"/>
              </a:defRPr>
            </a:pPr>
            <a:r>
              <a:rPr sz="1725" b="1">
                <a:solidFill>
                  <a:srgbClr val="0B0D10"/>
                </a:solidFill>
                <a:latin typeface="Arial"/>
                <a:ea typeface="Arial"/>
                <a:cs typeface="Arial"/>
              </a:rPr>
              <a:t>Any failure produces ABSTAIN. Unknown order state engages the kill switch.</a:t>
            </a:r>
          </a:p>
        </p:txBody>
      </p:sp>
    </p:spTree>
    <p:extLst>
      <p:ext uri="{BB962C8B-B14F-4D97-AF65-F5344CB8AC3E}">
        <p14:creationId xmlns:p14="http://schemas.microsoft.com/office/powerpoint/2010/main" val="18529488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6-title">
            <a:extLst xmlns:a="http://schemas.openxmlformats.org/drawingml/2006/main">
              <a:ext uri="{FF2B5EF4-FFF2-40B4-BE49-F238E27FC236}">
                <a16:creationId xmlns:a16="http://schemas.microsoft.com/office/drawing/2014/main" id="{555DB467-5A7E-4982-A794-D9FFAC36BFE0}"/>
              </a:ext>
            </a:extLst>
          </p:cNvPr>
          <p:cNvSpPr>
            <a:spLocks xmlns:a="http://schemas.openxmlformats.org/drawingml/2006/main" noGrp="1"/>
          </p:cNvSpPr>
          <p:nvPr/>
        </p:nvSpPr>
        <p:spPr>
          <a:xfrm xmlns:a="http://schemas.openxmlformats.org/drawingml/2006/main">
            <a:off x="5334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0B0D10"/>
                </a:solidFill>
                <a:latin typeface="Arial"/>
                <a:ea typeface="Arial"/>
                <a:cs typeface="Arial"/>
              </a:defRPr>
            </a:pPr>
            <a:r>
              <a:rPr sz="3000" b="1">
                <a:solidFill>
                  <a:srgbClr val="0B0D10"/>
                </a:solidFill>
                <a:latin typeface="Arial"/>
                <a:ea typeface="Arial"/>
                <a:cs typeface="Arial"/>
              </a:rPr>
              <a:t>Alpaca execution stays paper-only and atomic</a:t>
            </a:r>
          </a:p>
        </p:txBody>
      </p:sp>
      <p:cxnSp>
        <p:nvCxnSpPr>
          <p:cNvPr id="18"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B8C0C8"/>
            </a:solidFill>
            <a:prstDash val="solid"/>
          </a:ln>
        </p:spPr>
      </p:cxnSp>
      <p:sp>
        <p:nvSpPr>
          <p:cNvPr id="3" name="text-52xa1y">
            <a:extLst xmlns:a="http://schemas.openxmlformats.org/drawingml/2006/main">
              <a:ext uri="{FF2B5EF4-FFF2-40B4-BE49-F238E27FC236}">
                <a16:creationId xmlns:a16="http://schemas.microsoft.com/office/drawing/2014/main" id="{08CCB1E4-580F-4346-8623-681521AA089A}"/>
              </a:ext>
            </a:extLst>
          </p:cNvPr>
          <p:cNvSpPr>
            <a:spLocks xmlns:a="http://schemas.openxmlformats.org/drawingml/2006/main" noGrp="1"/>
          </p:cNvSpPr>
          <p:nvPr/>
        </p:nvSpPr>
        <p:spPr>
          <a:xfrm xmlns:a="http://schemas.openxmlformats.org/drawingml/2006/main">
            <a:off x="11182350"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06</a:t>
            </a:r>
          </a:p>
        </p:txBody>
      </p:sp>
      <p:sp>
        <p:nvSpPr>
          <p:cNvPr id="4" name="text-8n03bt">
            <a:extLst xmlns:a="http://schemas.openxmlformats.org/drawingml/2006/main">
              <a:ext uri="{FF2B5EF4-FFF2-40B4-BE49-F238E27FC236}">
                <a16:creationId xmlns:a16="http://schemas.microsoft.com/office/drawing/2014/main" id="{E4F58ACF-5501-4C14-8870-18B45F04494C}"/>
              </a:ext>
            </a:extLst>
          </p:cNvPr>
          <p:cNvSpPr>
            <a:spLocks xmlns:a="http://schemas.openxmlformats.org/drawingml/2006/main" noGrp="1"/>
          </p:cNvSpPr>
          <p:nvPr/>
        </p:nvSpPr>
        <p:spPr>
          <a:xfrm xmlns:a="http://schemas.openxmlformats.org/drawingml/2006/main">
            <a:off x="3638550" y="32766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100" b="1">
                <a:solidFill>
                  <a:srgbClr val="2F80ED"/>
                </a:solidFill>
                <a:latin typeface="Arial"/>
                <a:ea typeface="Arial"/>
                <a:cs typeface="Arial"/>
              </a:defRPr>
            </a:pPr>
            <a:r>
              <a:rPr sz="2100" b="1">
                <a:solidFill>
                  <a:srgbClr val="2F80ED"/>
                </a:solidFill>
                <a:latin typeface="Arial"/>
                <a:ea typeface="Arial"/>
                <a:cs typeface="Arial"/>
              </a:rPr>
              <a:t>→</a:t>
            </a:r>
          </a:p>
        </p:txBody>
      </p:sp>
      <p:sp>
        <p:nvSpPr>
          <p:cNvPr id="5" name="text-a45b5p">
            <a:extLst xmlns:a="http://schemas.openxmlformats.org/drawingml/2006/main">
              <a:ext uri="{FF2B5EF4-FFF2-40B4-BE49-F238E27FC236}">
                <a16:creationId xmlns:a16="http://schemas.microsoft.com/office/drawing/2014/main" id="{78DEB17F-C7CF-491B-8989-790E696255B3}"/>
              </a:ext>
            </a:extLst>
          </p:cNvPr>
          <p:cNvSpPr>
            <a:spLocks xmlns:a="http://schemas.openxmlformats.org/drawingml/2006/main" noGrp="1"/>
          </p:cNvSpPr>
          <p:nvPr/>
        </p:nvSpPr>
        <p:spPr>
          <a:xfrm xmlns:a="http://schemas.openxmlformats.org/drawingml/2006/main">
            <a:off x="7353300" y="32766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100" b="1">
                <a:solidFill>
                  <a:srgbClr val="2F80ED"/>
                </a:solidFill>
                <a:latin typeface="Arial"/>
                <a:ea typeface="Arial"/>
                <a:cs typeface="Arial"/>
              </a:defRPr>
            </a:pPr>
            <a:r>
              <a:rPr sz="2100" b="1">
                <a:solidFill>
                  <a:srgbClr val="2F80ED"/>
                </a:solidFill>
                <a:latin typeface="Arial"/>
                <a:ea typeface="Arial"/>
                <a:cs typeface="Arial"/>
              </a:rPr>
              <a:t>→</a:t>
            </a:r>
          </a:p>
        </p:txBody>
      </p:sp>
      <p:sp>
        <p:nvSpPr>
          <p:cNvPr id="6" name="text-cuvsfo">
            <a:extLst xmlns:a="http://schemas.openxmlformats.org/drawingml/2006/main">
              <a:ext uri="{FF2B5EF4-FFF2-40B4-BE49-F238E27FC236}">
                <a16:creationId xmlns:a16="http://schemas.microsoft.com/office/drawing/2014/main" id="{89C30C23-615A-4D41-A6F6-8FAC118BD984}"/>
              </a:ext>
            </a:extLst>
          </p:cNvPr>
          <p:cNvSpPr>
            <a:spLocks xmlns:a="http://schemas.openxmlformats.org/drawingml/2006/main" noGrp="1"/>
          </p:cNvSpPr>
          <p:nvPr/>
        </p:nvSpPr>
        <p:spPr>
          <a:xfrm xmlns:a="http://schemas.openxmlformats.org/drawingml/2006/main">
            <a:off x="533400" y="2095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2F80ED"/>
                </a:solidFill>
                <a:latin typeface="Arial"/>
                <a:ea typeface="Arial"/>
                <a:cs typeface="Arial"/>
              </a:defRPr>
            </a:pPr>
            <a:r>
              <a:rPr sz="1875" b="1">
                <a:solidFill>
                  <a:srgbClr val="2F80ED"/>
                </a:solidFill>
                <a:latin typeface="Arial"/>
                <a:ea typeface="Arial"/>
                <a:cs typeface="Arial"/>
              </a:rPr>
              <a:t>READ</a:t>
            </a:r>
          </a:p>
        </p:txBody>
      </p:sp>
      <p:sp>
        <p:nvSpPr>
          <p:cNvPr id="7" name="text-k7gbap">
            <a:extLst xmlns:a="http://schemas.openxmlformats.org/drawingml/2006/main">
              <a:ext uri="{FF2B5EF4-FFF2-40B4-BE49-F238E27FC236}">
                <a16:creationId xmlns:a16="http://schemas.microsoft.com/office/drawing/2014/main" id="{1324209A-A2AF-4041-8A7F-4E225263F74D}"/>
              </a:ext>
            </a:extLst>
          </p:cNvPr>
          <p:cNvSpPr>
            <a:spLocks xmlns:a="http://schemas.openxmlformats.org/drawingml/2006/main" noGrp="1"/>
          </p:cNvSpPr>
          <p:nvPr/>
        </p:nvSpPr>
        <p:spPr>
          <a:xfrm xmlns:a="http://schemas.openxmlformats.org/drawingml/2006/main">
            <a:off x="533400" y="2724150"/>
            <a:ext cx="285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0"/>
                </a:solidFill>
                <a:latin typeface="Arial"/>
                <a:ea typeface="Arial"/>
                <a:cs typeface="Arial"/>
              </a:defRPr>
            </a:pPr>
            <a:r>
              <a:rPr sz="1725" b="1">
                <a:solidFill>
                  <a:srgbClr val="0B0D10"/>
                </a:solidFill>
                <a:latin typeface="Arial"/>
                <a:ea typeface="Arial"/>
                <a:cs typeface="Arial"/>
              </a:rPr>
              <a:t>Account, clock, completed bars, contracts, chain snapshots and positions</a:t>
            </a:r>
          </a:p>
        </p:txBody>
      </p:sp>
      <p:sp>
        <p:nvSpPr>
          <p:cNvPr id="8" name="text-flxifq">
            <a:extLst xmlns:a="http://schemas.openxmlformats.org/drawingml/2006/main">
              <a:ext uri="{FF2B5EF4-FFF2-40B4-BE49-F238E27FC236}">
                <a16:creationId xmlns:a16="http://schemas.microsoft.com/office/drawing/2014/main" id="{8CFD6DFB-0AE6-4919-8F06-21B7C5312B68}"/>
              </a:ext>
            </a:extLst>
          </p:cNvPr>
          <p:cNvSpPr>
            <a:spLocks xmlns:a="http://schemas.openxmlformats.org/drawingml/2006/main" noGrp="1"/>
          </p:cNvSpPr>
          <p:nvPr/>
        </p:nvSpPr>
        <p:spPr>
          <a:xfrm xmlns:a="http://schemas.openxmlformats.org/drawingml/2006/main">
            <a:off x="533400" y="44196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alpaca-py</a:t>
            </a:r>
          </a:p>
        </p:txBody>
      </p:sp>
      <p:sp>
        <p:nvSpPr>
          <p:cNvPr id="9" name="text-lowpde">
            <a:extLst xmlns:a="http://schemas.openxmlformats.org/drawingml/2006/main">
              <a:ext uri="{FF2B5EF4-FFF2-40B4-BE49-F238E27FC236}">
                <a16:creationId xmlns:a16="http://schemas.microsoft.com/office/drawing/2014/main" id="{C4DC9F39-CB60-453E-A168-9EB3764A8A4D}"/>
              </a:ext>
            </a:extLst>
          </p:cNvPr>
          <p:cNvSpPr>
            <a:spLocks xmlns:a="http://schemas.openxmlformats.org/drawingml/2006/main" noGrp="1"/>
          </p:cNvSpPr>
          <p:nvPr/>
        </p:nvSpPr>
        <p:spPr>
          <a:xfrm xmlns:a="http://schemas.openxmlformats.org/drawingml/2006/main">
            <a:off x="4248150" y="2095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2F80ED"/>
                </a:solidFill>
                <a:latin typeface="Arial"/>
                <a:ea typeface="Arial"/>
                <a:cs typeface="Arial"/>
              </a:defRPr>
            </a:pPr>
            <a:r>
              <a:rPr sz="1875" b="1">
                <a:solidFill>
                  <a:srgbClr val="2F80ED"/>
                </a:solidFill>
                <a:latin typeface="Arial"/>
                <a:ea typeface="Arial"/>
                <a:cs typeface="Arial"/>
              </a:rPr>
              <a:t>SUBMIT</a:t>
            </a:r>
          </a:p>
        </p:txBody>
      </p:sp>
      <p:sp>
        <p:nvSpPr>
          <p:cNvPr id="10" name="text-ufbew2">
            <a:extLst xmlns:a="http://schemas.openxmlformats.org/drawingml/2006/main">
              <a:ext uri="{FF2B5EF4-FFF2-40B4-BE49-F238E27FC236}">
                <a16:creationId xmlns:a16="http://schemas.microsoft.com/office/drawing/2014/main" id="{9DEF35FA-A6EA-4C7B-B5C1-D284E1D3E709}"/>
              </a:ext>
            </a:extLst>
          </p:cNvPr>
          <p:cNvSpPr>
            <a:spLocks xmlns:a="http://schemas.openxmlformats.org/drawingml/2006/main" noGrp="1"/>
          </p:cNvSpPr>
          <p:nvPr/>
        </p:nvSpPr>
        <p:spPr>
          <a:xfrm xmlns:a="http://schemas.openxmlformats.org/drawingml/2006/main">
            <a:off x="4248150" y="2724150"/>
            <a:ext cx="285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0"/>
                </a:solidFill>
                <a:latin typeface="Arial"/>
                <a:ea typeface="Arial"/>
                <a:cs typeface="Arial"/>
              </a:defRPr>
            </a:pPr>
            <a:r>
              <a:rPr sz="1725" b="1">
                <a:solidFill>
                  <a:srgbClr val="0B0D10"/>
                </a:solidFill>
                <a:latin typeface="Arial"/>
                <a:ea typeface="Arial"/>
                <a:cs typeface="Arial"/>
              </a:rPr>
              <a:t>One atomic MLeg limit order through the official Alpaca CLI</a:t>
            </a:r>
          </a:p>
        </p:txBody>
      </p:sp>
      <p:sp>
        <p:nvSpPr>
          <p:cNvPr id="11" name="text-n1soii">
            <a:extLst xmlns:a="http://schemas.openxmlformats.org/drawingml/2006/main">
              <a:ext uri="{FF2B5EF4-FFF2-40B4-BE49-F238E27FC236}">
                <a16:creationId xmlns:a16="http://schemas.microsoft.com/office/drawing/2014/main" id="{14A95313-6748-4A19-944B-BE3EAF9CCEF2}"/>
              </a:ext>
            </a:extLst>
          </p:cNvPr>
          <p:cNvSpPr>
            <a:spLocks xmlns:a="http://schemas.openxmlformats.org/drawingml/2006/main" noGrp="1"/>
          </p:cNvSpPr>
          <p:nvPr/>
        </p:nvSpPr>
        <p:spPr>
          <a:xfrm xmlns:a="http://schemas.openxmlformats.org/drawingml/2006/main">
            <a:off x="4248150" y="44196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paper endpoint only</a:t>
            </a:r>
          </a:p>
        </p:txBody>
      </p:sp>
      <p:sp>
        <p:nvSpPr>
          <p:cNvPr id="12" name="text-hynami">
            <a:extLst xmlns:a="http://schemas.openxmlformats.org/drawingml/2006/main">
              <a:ext uri="{FF2B5EF4-FFF2-40B4-BE49-F238E27FC236}">
                <a16:creationId xmlns:a16="http://schemas.microsoft.com/office/drawing/2014/main" id="{8EE64B6E-7C92-4AFC-AD24-C31E3B38A27B}"/>
              </a:ext>
            </a:extLst>
          </p:cNvPr>
          <p:cNvSpPr>
            <a:spLocks xmlns:a="http://schemas.openxmlformats.org/drawingml/2006/main" noGrp="1"/>
          </p:cNvSpPr>
          <p:nvPr/>
        </p:nvSpPr>
        <p:spPr>
          <a:xfrm xmlns:a="http://schemas.openxmlformats.org/drawingml/2006/main">
            <a:off x="7962900" y="2095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2F80ED"/>
                </a:solidFill>
                <a:latin typeface="Arial"/>
                <a:ea typeface="Arial"/>
                <a:cs typeface="Arial"/>
              </a:defRPr>
            </a:pPr>
            <a:r>
              <a:rPr sz="1875" b="1">
                <a:solidFill>
                  <a:srgbClr val="2F80ED"/>
                </a:solidFill>
                <a:latin typeface="Arial"/>
                <a:ea typeface="Arial"/>
                <a:cs typeface="Arial"/>
              </a:rPr>
              <a:t>SUPERVISE</a:t>
            </a:r>
          </a:p>
        </p:txBody>
      </p:sp>
      <p:sp>
        <p:nvSpPr>
          <p:cNvPr id="13" name="text-ykk5ua">
            <a:extLst xmlns:a="http://schemas.openxmlformats.org/drawingml/2006/main">
              <a:ext uri="{FF2B5EF4-FFF2-40B4-BE49-F238E27FC236}">
                <a16:creationId xmlns:a16="http://schemas.microsoft.com/office/drawing/2014/main" id="{279D42E3-7EF1-409F-94AE-36954528D729}"/>
              </a:ext>
            </a:extLst>
          </p:cNvPr>
          <p:cNvSpPr>
            <a:spLocks xmlns:a="http://schemas.openxmlformats.org/drawingml/2006/main" noGrp="1"/>
          </p:cNvSpPr>
          <p:nvPr/>
        </p:nvSpPr>
        <p:spPr>
          <a:xfrm xmlns:a="http://schemas.openxmlformats.org/drawingml/2006/main">
            <a:off x="7962900" y="2724150"/>
            <a:ext cx="2857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0B0D10"/>
                </a:solidFill>
                <a:latin typeface="Arial"/>
                <a:ea typeface="Arial"/>
                <a:cs typeface="Arial"/>
              </a:defRPr>
            </a:pPr>
            <a:r>
              <a:rPr sz="1725" b="1">
                <a:solidFill>
                  <a:srgbClr val="0B0D10"/>
                </a:solidFill>
                <a:latin typeface="Arial"/>
                <a:ea typeface="Arial"/>
                <a:cs typeface="Arial"/>
              </a:rPr>
              <a:t>Reconcile exact positions and close the whole structure together</a:t>
            </a:r>
          </a:p>
        </p:txBody>
      </p:sp>
      <p:sp>
        <p:nvSpPr>
          <p:cNvPr id="14" name="text-hocgk4">
            <a:extLst xmlns:a="http://schemas.openxmlformats.org/drawingml/2006/main">
              <a:ext uri="{FF2B5EF4-FFF2-40B4-BE49-F238E27FC236}">
                <a16:creationId xmlns:a16="http://schemas.microsoft.com/office/drawing/2014/main" id="{F3CAA7FD-1BDA-4026-B81E-8DC2E9095C48}"/>
              </a:ext>
            </a:extLst>
          </p:cNvPr>
          <p:cNvSpPr>
            <a:spLocks xmlns:a="http://schemas.openxmlformats.org/drawingml/2006/main" noGrp="1"/>
          </p:cNvSpPr>
          <p:nvPr/>
        </p:nvSpPr>
        <p:spPr>
          <a:xfrm xmlns:a="http://schemas.openxmlformats.org/drawingml/2006/main">
            <a:off x="7962900" y="44196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profit • loss • time • signal</a:t>
            </a:r>
          </a:p>
        </p:txBody>
      </p:sp>
      <p:sp>
        <p:nvSpPr>
          <p:cNvPr id="15" name="box-26rr1p">
            <a:extLst xmlns:a="http://schemas.openxmlformats.org/drawingml/2006/main">
              <a:ext uri="{FF2B5EF4-FFF2-40B4-BE49-F238E27FC236}">
                <a16:creationId xmlns:a16="http://schemas.microsoft.com/office/drawing/2014/main" id="{4D4B26F0-59D2-40F1-A648-DD314350E4AC}"/>
              </a:ext>
            </a:extLst>
          </p:cNvPr>
          <p:cNvSpPr>
            <a:spLocks xmlns:a="http://schemas.openxmlformats.org/drawingml/2006/main" noGrp="1"/>
          </p:cNvSpPr>
          <p:nvPr/>
        </p:nvSpPr>
        <p:spPr>
          <a:xfrm xmlns:a="http://schemas.openxmlformats.org/drawingml/2006/main">
            <a:off x="533400" y="5391150"/>
            <a:ext cx="10839450" cy="590550"/>
          </a:xfrm>
          <a:prstGeom xmlns:a="http://schemas.openxmlformats.org/drawingml/2006/main" prst="rect">
            <a:avLst/>
          </a:prstGeom>
          <a:solidFill xmlns:a="http://schemas.openxmlformats.org/drawingml/2006/main">
            <a:srgbClr val="0B0D10"/>
          </a:solidFill>
          <a:ln xmlns:a="http://schemas.openxmlformats.org/drawingml/2006/main" w="0">
            <a:solidFill>
              <a:srgbClr val="0B0D10"/>
            </a:solidFill>
            <a:prstDash val="solid"/>
          </a:ln>
        </p:spPr>
      </p:sp>
      <p:sp>
        <p:nvSpPr>
          <p:cNvPr id="16" name="text-92jjk1">
            <a:extLst xmlns:a="http://schemas.openxmlformats.org/drawingml/2006/main">
              <a:ext uri="{FF2B5EF4-FFF2-40B4-BE49-F238E27FC236}">
                <a16:creationId xmlns:a16="http://schemas.microsoft.com/office/drawing/2014/main" id="{FC899EF9-07C7-415C-8650-B32CE04CBBF2}"/>
              </a:ext>
            </a:extLst>
          </p:cNvPr>
          <p:cNvSpPr>
            <a:spLocks xmlns:a="http://schemas.openxmlformats.org/drawingml/2006/main" noGrp="1"/>
          </p:cNvSpPr>
          <p:nvPr/>
        </p:nvSpPr>
        <p:spPr>
          <a:xfrm xmlns:a="http://schemas.openxmlformats.org/drawingml/2006/main">
            <a:off x="762000" y="556260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Ambiguous broker response → persistent kill switch → manual reconciliation</a:t>
            </a:r>
          </a:p>
        </p:txBody>
      </p:sp>
    </p:spTree>
    <p:extLst>
      <p:ext uri="{BB962C8B-B14F-4D97-AF65-F5344CB8AC3E}">
        <p14:creationId xmlns:p14="http://schemas.microsoft.com/office/powerpoint/2010/main" val="15703624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7-title">
            <a:extLst xmlns:a="http://schemas.openxmlformats.org/drawingml/2006/main">
              <a:ext uri="{FF2B5EF4-FFF2-40B4-BE49-F238E27FC236}">
                <a16:creationId xmlns:a16="http://schemas.microsoft.com/office/drawing/2014/main" id="{5EBD68E8-6909-4631-9A52-BD084B9E3545}"/>
              </a:ext>
            </a:extLst>
          </p:cNvPr>
          <p:cNvSpPr>
            <a:spLocks xmlns:a="http://schemas.openxmlformats.org/drawingml/2006/main" noGrp="1"/>
          </p:cNvSpPr>
          <p:nvPr/>
        </p:nvSpPr>
        <p:spPr>
          <a:xfrm xmlns:a="http://schemas.openxmlformats.org/drawingml/2006/main">
            <a:off x="5334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996"/>
          </a:bodyPr>
          <a:lstStyle xmlns:a="http://schemas.openxmlformats.org/drawingml/2006/main"/>
          <a:p xmlns:a="http://schemas.openxmlformats.org/drawingml/2006/main">
            <a:pPr algn="l">
              <a:defRPr sz="3000" b="1">
                <a:solidFill>
                  <a:srgbClr val="0B0D10"/>
                </a:solidFill>
                <a:latin typeface="Arial"/>
                <a:ea typeface="Arial"/>
                <a:cs typeface="Arial"/>
              </a:defRPr>
            </a:pPr>
            <a:r>
              <a:rPr sz="3000" b="1">
                <a:solidFill>
                  <a:srgbClr val="0B0D10"/>
                </a:solidFill>
                <a:latin typeface="Arial"/>
                <a:ea typeface="Arial"/>
                <a:cs typeface="Arial"/>
              </a:rPr>
              <a:t>Every decision becomes a tamper-evident Trade Passport</a:t>
            </a:r>
          </a:p>
        </p:txBody>
      </p:sp>
      <p:cxnSp>
        <p:nvCxnSpPr>
          <p:cNvPr id="21"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B8C0C8"/>
            </a:solidFill>
            <a:prstDash val="solid"/>
          </a:ln>
        </p:spPr>
      </p:cxnSp>
      <p:sp>
        <p:nvSpPr>
          <p:cNvPr id="3" name="text-n6r940">
            <a:extLst xmlns:a="http://schemas.openxmlformats.org/drawingml/2006/main">
              <a:ext uri="{FF2B5EF4-FFF2-40B4-BE49-F238E27FC236}">
                <a16:creationId xmlns:a16="http://schemas.microsoft.com/office/drawing/2014/main" id="{26E7187E-729E-466D-A768-03B31CFA070F}"/>
              </a:ext>
            </a:extLst>
          </p:cNvPr>
          <p:cNvSpPr>
            <a:spLocks xmlns:a="http://schemas.openxmlformats.org/drawingml/2006/main" noGrp="1"/>
          </p:cNvSpPr>
          <p:nvPr/>
        </p:nvSpPr>
        <p:spPr>
          <a:xfrm xmlns:a="http://schemas.openxmlformats.org/drawingml/2006/main">
            <a:off x="11182350"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07</a:t>
            </a:r>
          </a:p>
        </p:txBody>
      </p:sp>
      <p:cxnSp>
        <p:nvCxnSpPr>
          <p:cNvPr id="23" name=""/>
          <p:cNvCxnSpPr/>
          <p:nvPr/>
        </p:nvCxnSpPr>
        <p:spPr>
          <a:xfrm xmlns:a="http://schemas.openxmlformats.org/drawingml/2006/main">
            <a:off x="1790700" y="3371850"/>
            <a:ext cx="6858000" cy="0"/>
          </a:xfrm>
          <a:prstGeom xmlns:a="http://schemas.openxmlformats.org/drawingml/2006/main" prst="straightConnector1">
            <a:avLst/>
          </a:prstGeom>
          <a:ln xmlns:a="http://schemas.openxmlformats.org/drawingml/2006/main" w="38100">
            <a:solidFill>
              <a:srgbClr val="2F80ED"/>
            </a:solidFill>
            <a:prstDash val="solid"/>
          </a:ln>
        </p:spPr>
      </p:cxnSp>
      <p:sp>
        <p:nvSpPr>
          <p:cNvPr id="5" name="box-tcv299">
            <a:extLst xmlns:a="http://schemas.openxmlformats.org/drawingml/2006/main">
              <a:ext uri="{FF2B5EF4-FFF2-40B4-BE49-F238E27FC236}">
                <a16:creationId xmlns:a16="http://schemas.microsoft.com/office/drawing/2014/main" id="{178512C7-11D4-4D10-9076-E2AB22872DB7}"/>
              </a:ext>
            </a:extLst>
          </p:cNvPr>
          <p:cNvSpPr>
            <a:spLocks xmlns:a="http://schemas.openxmlformats.org/drawingml/2006/main" noGrp="1"/>
          </p:cNvSpPr>
          <p:nvPr/>
        </p:nvSpPr>
        <p:spPr>
          <a:xfrm xmlns:a="http://schemas.openxmlformats.org/drawingml/2006/main">
            <a:off x="838200" y="2228850"/>
            <a:ext cx="2133600" cy="17907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6" name="text-7p13sn">
            <a:extLst xmlns:a="http://schemas.openxmlformats.org/drawingml/2006/main">
              <a:ext uri="{FF2B5EF4-FFF2-40B4-BE49-F238E27FC236}">
                <a16:creationId xmlns:a16="http://schemas.microsoft.com/office/drawing/2014/main" id="{AF7C29A6-BD8C-4324-A0A8-39D9353BD08B}"/>
              </a:ext>
            </a:extLst>
          </p:cNvPr>
          <p:cNvSpPr>
            <a:spLocks xmlns:a="http://schemas.openxmlformats.org/drawingml/2006/main" noGrp="1"/>
          </p:cNvSpPr>
          <p:nvPr/>
        </p:nvSpPr>
        <p:spPr>
          <a:xfrm xmlns:a="http://schemas.openxmlformats.org/drawingml/2006/main">
            <a:off x="1009650" y="240030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PASSPORT 1</a:t>
            </a:r>
          </a:p>
        </p:txBody>
      </p:sp>
      <p:sp>
        <p:nvSpPr>
          <p:cNvPr id="7" name="text-38ubzb">
            <a:extLst xmlns:a="http://schemas.openxmlformats.org/drawingml/2006/main">
              <a:ext uri="{FF2B5EF4-FFF2-40B4-BE49-F238E27FC236}">
                <a16:creationId xmlns:a16="http://schemas.microsoft.com/office/drawing/2014/main" id="{EC142B99-8A29-4268-B3AB-6B94037CA085}"/>
              </a:ext>
            </a:extLst>
          </p:cNvPr>
          <p:cNvSpPr>
            <a:spLocks xmlns:a="http://schemas.openxmlformats.org/drawingml/2006/main" noGrp="1"/>
          </p:cNvSpPr>
          <p:nvPr/>
        </p:nvSpPr>
        <p:spPr>
          <a:xfrm xmlns:a="http://schemas.openxmlformats.org/drawingml/2006/main">
            <a:off x="1009650" y="2847975"/>
            <a:ext cx="179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Evidence</a:t>
            </a:r>
          </a:p>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 candidate</a:t>
            </a:r>
          </a:p>
        </p:txBody>
      </p:sp>
      <p:sp>
        <p:nvSpPr>
          <p:cNvPr id="8" name="text-6jl2kn">
            <a:extLst xmlns:a="http://schemas.openxmlformats.org/drawingml/2006/main">
              <a:ext uri="{FF2B5EF4-FFF2-40B4-BE49-F238E27FC236}">
                <a16:creationId xmlns:a16="http://schemas.microsoft.com/office/drawing/2014/main" id="{605138B7-FDC8-4888-B662-0089A832F3DC}"/>
              </a:ext>
            </a:extLst>
          </p:cNvPr>
          <p:cNvSpPr>
            <a:spLocks xmlns:a="http://schemas.openxmlformats.org/drawingml/2006/main" noGrp="1"/>
          </p:cNvSpPr>
          <p:nvPr/>
        </p:nvSpPr>
        <p:spPr>
          <a:xfrm xmlns:a="http://schemas.openxmlformats.org/drawingml/2006/main">
            <a:off x="1009650" y="360997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470"/>
                </a:solidFill>
                <a:latin typeface="Arial"/>
                <a:ea typeface="Arial"/>
                <a:cs typeface="Arial"/>
              </a:defRPr>
            </a:pPr>
            <a:r>
              <a:rPr sz="1050" b="0">
                <a:solidFill>
                  <a:srgbClr val="5B6470"/>
                </a:solidFill>
                <a:latin typeface="Arial"/>
                <a:ea typeface="Arial"/>
                <a:cs typeface="Arial"/>
              </a:rPr>
              <a:t>HASH 01</a:t>
            </a:r>
          </a:p>
        </p:txBody>
      </p:sp>
      <p:sp>
        <p:nvSpPr>
          <p:cNvPr id="9" name="box-iki8x8">
            <a:extLst xmlns:a="http://schemas.openxmlformats.org/drawingml/2006/main">
              <a:ext uri="{FF2B5EF4-FFF2-40B4-BE49-F238E27FC236}">
                <a16:creationId xmlns:a16="http://schemas.microsoft.com/office/drawing/2014/main" id="{F4796767-ACAB-41C1-8AA9-01C73EE587A8}"/>
              </a:ext>
            </a:extLst>
          </p:cNvPr>
          <p:cNvSpPr>
            <a:spLocks xmlns:a="http://schemas.openxmlformats.org/drawingml/2006/main" noGrp="1"/>
          </p:cNvSpPr>
          <p:nvPr/>
        </p:nvSpPr>
        <p:spPr>
          <a:xfrm xmlns:a="http://schemas.openxmlformats.org/drawingml/2006/main">
            <a:off x="3505200" y="2609850"/>
            <a:ext cx="2133600" cy="1790700"/>
          </a:xfrm>
          <a:prstGeom xmlns:a="http://schemas.openxmlformats.org/drawingml/2006/main" prst="rect">
            <a:avLst/>
          </a:prstGeom>
          <a:solidFill xmlns:a="http://schemas.openxmlformats.org/drawingml/2006/main">
            <a:srgbClr val="DCEEFF"/>
          </a:solidFill>
          <a:ln xmlns:a="http://schemas.openxmlformats.org/drawingml/2006/main" w="19050">
            <a:solidFill>
              <a:srgbClr val="2F80ED"/>
            </a:solidFill>
            <a:prstDash val="solid"/>
          </a:ln>
        </p:spPr>
      </p:sp>
      <p:sp>
        <p:nvSpPr>
          <p:cNvPr id="10" name="text-d3nkfa">
            <a:extLst xmlns:a="http://schemas.openxmlformats.org/drawingml/2006/main">
              <a:ext uri="{FF2B5EF4-FFF2-40B4-BE49-F238E27FC236}">
                <a16:creationId xmlns:a16="http://schemas.microsoft.com/office/drawing/2014/main" id="{EBDFE855-DE3E-4C81-A31B-449BB0D2BA45}"/>
              </a:ext>
            </a:extLst>
          </p:cNvPr>
          <p:cNvSpPr>
            <a:spLocks xmlns:a="http://schemas.openxmlformats.org/drawingml/2006/main" noGrp="1"/>
          </p:cNvSpPr>
          <p:nvPr/>
        </p:nvSpPr>
        <p:spPr>
          <a:xfrm xmlns:a="http://schemas.openxmlformats.org/drawingml/2006/main">
            <a:off x="3676650" y="278130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PASSPORT 2</a:t>
            </a:r>
          </a:p>
        </p:txBody>
      </p:sp>
      <p:sp>
        <p:nvSpPr>
          <p:cNvPr id="11" name="text-d1zupl">
            <a:extLst xmlns:a="http://schemas.openxmlformats.org/drawingml/2006/main">
              <a:ext uri="{FF2B5EF4-FFF2-40B4-BE49-F238E27FC236}">
                <a16:creationId xmlns:a16="http://schemas.microsoft.com/office/drawing/2014/main" id="{1533A465-0296-4EAE-AF71-8656399B91B3}"/>
              </a:ext>
            </a:extLst>
          </p:cNvPr>
          <p:cNvSpPr>
            <a:spLocks xmlns:a="http://schemas.openxmlformats.org/drawingml/2006/main" noGrp="1"/>
          </p:cNvSpPr>
          <p:nvPr/>
        </p:nvSpPr>
        <p:spPr>
          <a:xfrm xmlns:a="http://schemas.openxmlformats.org/drawingml/2006/main">
            <a:off x="3676650" y="3228975"/>
            <a:ext cx="179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AI verdict</a:t>
            </a:r>
          </a:p>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+ 32 checks</a:t>
            </a:r>
          </a:p>
        </p:txBody>
      </p:sp>
      <p:sp>
        <p:nvSpPr>
          <p:cNvPr id="12" name="text-m6ordx">
            <a:extLst xmlns:a="http://schemas.openxmlformats.org/drawingml/2006/main">
              <a:ext uri="{FF2B5EF4-FFF2-40B4-BE49-F238E27FC236}">
                <a16:creationId xmlns:a16="http://schemas.microsoft.com/office/drawing/2014/main" id="{E3147D88-7BFE-4B73-96C6-AEB2D2F424B4}"/>
              </a:ext>
            </a:extLst>
          </p:cNvPr>
          <p:cNvSpPr>
            <a:spLocks xmlns:a="http://schemas.openxmlformats.org/drawingml/2006/main" noGrp="1"/>
          </p:cNvSpPr>
          <p:nvPr/>
        </p:nvSpPr>
        <p:spPr>
          <a:xfrm xmlns:a="http://schemas.openxmlformats.org/drawingml/2006/main">
            <a:off x="3676650" y="399097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470"/>
                </a:solidFill>
                <a:latin typeface="Arial"/>
                <a:ea typeface="Arial"/>
                <a:cs typeface="Arial"/>
              </a:defRPr>
            </a:pPr>
            <a:r>
              <a:rPr sz="1050" b="0">
                <a:solidFill>
                  <a:srgbClr val="5B6470"/>
                </a:solidFill>
                <a:latin typeface="Arial"/>
                <a:ea typeface="Arial"/>
                <a:cs typeface="Arial"/>
              </a:rPr>
              <a:t>HASH 02</a:t>
            </a:r>
          </a:p>
        </p:txBody>
      </p:sp>
      <p:sp>
        <p:nvSpPr>
          <p:cNvPr id="13" name="box-593kzn">
            <a:extLst xmlns:a="http://schemas.openxmlformats.org/drawingml/2006/main">
              <a:ext uri="{FF2B5EF4-FFF2-40B4-BE49-F238E27FC236}">
                <a16:creationId xmlns:a16="http://schemas.microsoft.com/office/drawing/2014/main" id="{78A0FA1C-6F11-419E-853B-F252FC2D9C5F}"/>
              </a:ext>
            </a:extLst>
          </p:cNvPr>
          <p:cNvSpPr>
            <a:spLocks xmlns:a="http://schemas.openxmlformats.org/drawingml/2006/main" noGrp="1"/>
          </p:cNvSpPr>
          <p:nvPr/>
        </p:nvSpPr>
        <p:spPr>
          <a:xfrm xmlns:a="http://schemas.openxmlformats.org/drawingml/2006/main">
            <a:off x="6172200" y="2990850"/>
            <a:ext cx="2133600" cy="1790700"/>
          </a:xfrm>
          <a:prstGeom xmlns:a="http://schemas.openxmlformats.org/drawingml/2006/main" prst="rect">
            <a:avLst/>
          </a:prstGeom>
          <a:solidFill xmlns:a="http://schemas.openxmlformats.org/drawingml/2006/main">
            <a:srgbClr val="EEF1F4"/>
          </a:solidFill>
          <a:ln xmlns:a="http://schemas.openxmlformats.org/drawingml/2006/main" w="9525">
            <a:solidFill>
              <a:srgbClr val="B8C0C8"/>
            </a:solidFill>
            <a:prstDash val="solid"/>
          </a:ln>
        </p:spPr>
      </p:sp>
      <p:sp>
        <p:nvSpPr>
          <p:cNvPr id="14" name="text-nfowgz">
            <a:extLst xmlns:a="http://schemas.openxmlformats.org/drawingml/2006/main">
              <a:ext uri="{FF2B5EF4-FFF2-40B4-BE49-F238E27FC236}">
                <a16:creationId xmlns:a16="http://schemas.microsoft.com/office/drawing/2014/main" id="{74F945CC-1E42-4993-8042-6D074EC11354}"/>
              </a:ext>
            </a:extLst>
          </p:cNvPr>
          <p:cNvSpPr>
            <a:spLocks xmlns:a="http://schemas.openxmlformats.org/drawingml/2006/main" noGrp="1"/>
          </p:cNvSpPr>
          <p:nvPr/>
        </p:nvSpPr>
        <p:spPr>
          <a:xfrm xmlns:a="http://schemas.openxmlformats.org/drawingml/2006/main">
            <a:off x="6343650" y="316230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2F80ED"/>
                </a:solidFill>
                <a:latin typeface="Arial"/>
                <a:ea typeface="Arial"/>
                <a:cs typeface="Arial"/>
              </a:defRPr>
            </a:pPr>
            <a:r>
              <a:rPr sz="1125" b="1">
                <a:solidFill>
                  <a:srgbClr val="2F80ED"/>
                </a:solidFill>
                <a:latin typeface="Arial"/>
                <a:ea typeface="Arial"/>
                <a:cs typeface="Arial"/>
              </a:rPr>
              <a:t>PASSPORT 3</a:t>
            </a:r>
          </a:p>
        </p:txBody>
      </p:sp>
      <p:sp>
        <p:nvSpPr>
          <p:cNvPr id="15" name="text-jupxql">
            <a:extLst xmlns:a="http://schemas.openxmlformats.org/drawingml/2006/main">
              <a:ext uri="{FF2B5EF4-FFF2-40B4-BE49-F238E27FC236}">
                <a16:creationId xmlns:a16="http://schemas.microsoft.com/office/drawing/2014/main" id="{68B89C95-261C-4756-AD72-EE9B7C00C494}"/>
              </a:ext>
            </a:extLst>
          </p:cNvPr>
          <p:cNvSpPr>
            <a:spLocks xmlns:a="http://schemas.openxmlformats.org/drawingml/2006/main" noGrp="1"/>
          </p:cNvSpPr>
          <p:nvPr/>
        </p:nvSpPr>
        <p:spPr>
          <a:xfrm xmlns:a="http://schemas.openxmlformats.org/drawingml/2006/main">
            <a:off x="6343650" y="3609975"/>
            <a:ext cx="1790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Order payload</a:t>
            </a:r>
          </a:p>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 result</a:t>
            </a:r>
          </a:p>
        </p:txBody>
      </p:sp>
      <p:sp>
        <p:nvSpPr>
          <p:cNvPr id="16" name="text-rnd5qo">
            <a:extLst xmlns:a="http://schemas.openxmlformats.org/drawingml/2006/main">
              <a:ext uri="{FF2B5EF4-FFF2-40B4-BE49-F238E27FC236}">
                <a16:creationId xmlns:a16="http://schemas.microsoft.com/office/drawing/2014/main" id="{8FEC57E6-75D0-4B4B-BB21-EF308506D072}"/>
              </a:ext>
            </a:extLst>
          </p:cNvPr>
          <p:cNvSpPr>
            <a:spLocks xmlns:a="http://schemas.openxmlformats.org/drawingml/2006/main" noGrp="1"/>
          </p:cNvSpPr>
          <p:nvPr/>
        </p:nvSpPr>
        <p:spPr>
          <a:xfrm xmlns:a="http://schemas.openxmlformats.org/drawingml/2006/main">
            <a:off x="6343650" y="4371975"/>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0">
                <a:solidFill>
                  <a:srgbClr val="5B6470"/>
                </a:solidFill>
                <a:latin typeface="Arial"/>
                <a:ea typeface="Arial"/>
                <a:cs typeface="Arial"/>
              </a:defRPr>
            </a:pPr>
            <a:r>
              <a:rPr sz="1050" b="0">
                <a:solidFill>
                  <a:srgbClr val="5B6470"/>
                </a:solidFill>
                <a:latin typeface="Arial"/>
                <a:ea typeface="Arial"/>
                <a:cs typeface="Arial"/>
              </a:rPr>
              <a:t>HASH 03</a:t>
            </a:r>
          </a:p>
        </p:txBody>
      </p:sp>
      <p:sp>
        <p:nvSpPr>
          <p:cNvPr id="17" name="text-507hhx">
            <a:extLst xmlns:a="http://schemas.openxmlformats.org/drawingml/2006/main">
              <a:ext uri="{FF2B5EF4-FFF2-40B4-BE49-F238E27FC236}">
                <a16:creationId xmlns:a16="http://schemas.microsoft.com/office/drawing/2014/main" id="{F21599C6-711B-4558-BD5A-E2E1031FA050}"/>
              </a:ext>
            </a:extLst>
          </p:cNvPr>
          <p:cNvSpPr>
            <a:spLocks xmlns:a="http://schemas.openxmlformats.org/drawingml/2006/main" noGrp="1"/>
          </p:cNvSpPr>
          <p:nvPr/>
        </p:nvSpPr>
        <p:spPr>
          <a:xfrm xmlns:a="http://schemas.openxmlformats.org/drawingml/2006/main">
            <a:off x="8705850" y="2647950"/>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defRPr sz="1500" b="1">
                <a:solidFill>
                  <a:srgbClr val="2F80ED"/>
                </a:solidFill>
                <a:latin typeface="Arial"/>
                <a:ea typeface="Arial"/>
                <a:cs typeface="Arial"/>
              </a:defRPr>
            </a:pPr>
            <a:r>
              <a:rPr sz="1500" b="1">
                <a:solidFill>
                  <a:srgbClr val="2F80ED"/>
                </a:solidFill>
                <a:latin typeface="Arial"/>
                <a:ea typeface="Arial"/>
                <a:cs typeface="Arial"/>
              </a:rPr>
              <a:t>Previous-record hash</a:t>
            </a:r>
          </a:p>
        </p:txBody>
      </p:sp>
      <p:sp>
        <p:nvSpPr>
          <p:cNvPr id="18" name="text-mbmls3">
            <a:extLst xmlns:a="http://schemas.openxmlformats.org/drawingml/2006/main">
              <a:ext uri="{FF2B5EF4-FFF2-40B4-BE49-F238E27FC236}">
                <a16:creationId xmlns:a16="http://schemas.microsoft.com/office/drawing/2014/main" id="{54C43A43-B9D6-4F50-A5A0-C9E6B10DA279}"/>
              </a:ext>
            </a:extLst>
          </p:cNvPr>
          <p:cNvSpPr>
            <a:spLocks xmlns:a="http://schemas.openxmlformats.org/drawingml/2006/main" noGrp="1"/>
          </p:cNvSpPr>
          <p:nvPr/>
        </p:nvSpPr>
        <p:spPr>
          <a:xfrm xmlns:a="http://schemas.openxmlformats.org/drawingml/2006/main">
            <a:off x="8705850" y="3105150"/>
            <a:ext cx="26479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569"/>
          </a:bodyPr>
          <a:lstStyle xmlns:a="http://schemas.openxmlformats.org/drawingml/2006/main"/>
          <a:p xmlns:a="http://schemas.openxmlformats.org/drawingml/2006/main">
            <a:pPr algn="l">
              <a:defRPr sz="1800" b="1">
                <a:solidFill>
                  <a:srgbClr val="0B0D10"/>
                </a:solidFill>
                <a:latin typeface="Arial"/>
                <a:ea typeface="Arial"/>
                <a:cs typeface="Arial"/>
              </a:defRPr>
            </a:pPr>
            <a:r>
              <a:rPr sz="1800" b="1">
                <a:solidFill>
                  <a:srgbClr val="0B0D10"/>
                </a:solidFill>
                <a:latin typeface="Arial"/>
                <a:ea typeface="Arial"/>
                <a:cs typeface="Arial"/>
              </a:rPr>
              <a:t>Each record commits to the one before it. Silent history edits become detectable.</a:t>
            </a:r>
          </a:p>
        </p:txBody>
      </p:sp>
      <p:sp>
        <p:nvSpPr>
          <p:cNvPr id="19" name="text-4a13vm">
            <a:extLst xmlns:a="http://schemas.openxmlformats.org/drawingml/2006/main">
              <a:ext uri="{FF2B5EF4-FFF2-40B4-BE49-F238E27FC236}">
                <a16:creationId xmlns:a16="http://schemas.microsoft.com/office/drawing/2014/main" id="{01710B7C-D14F-4DF9-B44D-329057AABCA1}"/>
              </a:ext>
            </a:extLst>
          </p:cNvPr>
          <p:cNvSpPr>
            <a:spLocks xmlns:a="http://schemas.openxmlformats.org/drawingml/2006/main" noGrp="1"/>
          </p:cNvSpPr>
          <p:nvPr/>
        </p:nvSpPr>
        <p:spPr>
          <a:xfrm xmlns:a="http://schemas.openxmlformats.org/drawingml/2006/main">
            <a:off x="8705850" y="4648200"/>
            <a:ext cx="2647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Audit output: inputs • limits • verdict • action • outcome</a:t>
            </a:r>
          </a:p>
        </p:txBody>
      </p:sp>
    </p:spTree>
    <p:extLst>
      <p:ext uri="{BB962C8B-B14F-4D97-AF65-F5344CB8AC3E}">
        <p14:creationId xmlns:p14="http://schemas.microsoft.com/office/powerpoint/2010/main" val="10234831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8-title">
            <a:extLst xmlns:a="http://schemas.openxmlformats.org/drawingml/2006/main">
              <a:ext uri="{FF2B5EF4-FFF2-40B4-BE49-F238E27FC236}">
                <a16:creationId xmlns:a16="http://schemas.microsoft.com/office/drawing/2014/main" id="{17B3EA95-3167-4B2D-9359-D719094BE34D}"/>
              </a:ext>
            </a:extLst>
          </p:cNvPr>
          <p:cNvSpPr>
            <a:spLocks xmlns:a="http://schemas.openxmlformats.org/drawingml/2006/main" noGrp="1"/>
          </p:cNvSpPr>
          <p:nvPr/>
        </p:nvSpPr>
        <p:spPr>
          <a:xfrm xmlns:a="http://schemas.openxmlformats.org/drawingml/2006/main">
            <a:off x="5334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0B0D10"/>
                </a:solidFill>
                <a:latin typeface="Arial"/>
                <a:ea typeface="Arial"/>
                <a:cs typeface="Arial"/>
              </a:defRPr>
            </a:pPr>
            <a:r>
              <a:rPr sz="3000" b="1">
                <a:solidFill>
                  <a:srgbClr val="0B0D10"/>
                </a:solidFill>
                <a:latin typeface="Arial"/>
                <a:ea typeface="Arial"/>
                <a:cs typeface="Arial"/>
              </a:rPr>
              <a:t>Judges can reproduce approval and abstention</a:t>
            </a:r>
          </a:p>
        </p:txBody>
      </p:sp>
      <p:cxnSp>
        <p:nvCxnSpPr>
          <p:cNvPr id="24" name=""/>
          <p:cNvCxnSpPr/>
          <p:nvPr/>
        </p:nvCxnSpPr>
        <p:spPr>
          <a:xfrm xmlns:a="http://schemas.openxmlformats.org/drawingml/2006/main">
            <a:off x="533400" y="1200150"/>
            <a:ext cx="11125200" cy="0"/>
          </a:xfrm>
          <a:prstGeom xmlns:a="http://schemas.openxmlformats.org/drawingml/2006/main" prst="straightConnector1">
            <a:avLst/>
          </a:prstGeom>
          <a:ln xmlns:a="http://schemas.openxmlformats.org/drawingml/2006/main" w="9525">
            <a:solidFill>
              <a:srgbClr val="B8C0C8"/>
            </a:solidFill>
            <a:prstDash val="solid"/>
          </a:ln>
        </p:spPr>
      </p:cxnSp>
      <p:sp>
        <p:nvSpPr>
          <p:cNvPr id="3" name="text-dotv4e">
            <a:extLst xmlns:a="http://schemas.openxmlformats.org/drawingml/2006/main">
              <a:ext uri="{FF2B5EF4-FFF2-40B4-BE49-F238E27FC236}">
                <a16:creationId xmlns:a16="http://schemas.microsoft.com/office/drawing/2014/main" id="{57D724C5-52AA-450A-9069-132F5969BFF9}"/>
              </a:ext>
            </a:extLst>
          </p:cNvPr>
          <p:cNvSpPr>
            <a:spLocks xmlns:a="http://schemas.openxmlformats.org/drawingml/2006/main" noGrp="1"/>
          </p:cNvSpPr>
          <p:nvPr/>
        </p:nvSpPr>
        <p:spPr>
          <a:xfrm xmlns:a="http://schemas.openxmlformats.org/drawingml/2006/main">
            <a:off x="11182350"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a:solidFill>
                  <a:srgbClr val="5B6470"/>
                </a:solidFill>
                <a:latin typeface="Arial"/>
                <a:ea typeface="Arial"/>
                <a:cs typeface="Arial"/>
              </a:defRPr>
            </a:pPr>
            <a:r>
              <a:rPr sz="1050" b="0">
                <a:solidFill>
                  <a:srgbClr val="5B6470"/>
                </a:solidFill>
                <a:latin typeface="Arial"/>
                <a:ea typeface="Arial"/>
                <a:cs typeface="Arial"/>
              </a:rPr>
              <a:t>08</a:t>
            </a:r>
          </a:p>
        </p:txBody>
      </p:sp>
      <p:sp>
        <p:nvSpPr>
          <p:cNvPr id="4" name="text-0qwa8x">
            <a:extLst xmlns:a="http://schemas.openxmlformats.org/drawingml/2006/main">
              <a:ext uri="{FF2B5EF4-FFF2-40B4-BE49-F238E27FC236}">
                <a16:creationId xmlns:a16="http://schemas.microsoft.com/office/drawing/2014/main" id="{162F1534-E608-4E28-8385-5941093C107B}"/>
              </a:ext>
            </a:extLst>
          </p:cNvPr>
          <p:cNvSpPr>
            <a:spLocks xmlns:a="http://schemas.openxmlformats.org/drawingml/2006/main" noGrp="1"/>
          </p:cNvSpPr>
          <p:nvPr/>
        </p:nvSpPr>
        <p:spPr>
          <a:xfrm xmlns:a="http://schemas.openxmlformats.org/drawingml/2006/main">
            <a:off x="533400" y="16573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CLEAN</a:t>
            </a:r>
          </a:p>
        </p:txBody>
      </p:sp>
      <p:cxnSp>
        <p:nvCxnSpPr>
          <p:cNvPr id="27" name=""/>
          <p:cNvCxnSpPr/>
          <p:nvPr/>
        </p:nvCxnSpPr>
        <p:spPr>
          <a:xfrm xmlns:a="http://schemas.openxmlformats.org/drawingml/2006/main">
            <a:off x="3200400" y="1809750"/>
            <a:ext cx="2952750" cy="0"/>
          </a:xfrm>
          <a:prstGeom xmlns:a="http://schemas.openxmlformats.org/drawingml/2006/main" prst="straightConnector1">
            <a:avLst/>
          </a:prstGeom>
          <a:ln xmlns:a="http://schemas.openxmlformats.org/drawingml/2006/main" w="9525">
            <a:solidFill>
              <a:srgbClr val="B8C0C8"/>
            </a:solidFill>
            <a:prstDash val="solid"/>
          </a:ln>
        </p:spPr>
      </p:cxnSp>
      <p:sp>
        <p:nvSpPr>
          <p:cNvPr id="6" name="text-18xpyx">
            <a:extLst xmlns:a="http://schemas.openxmlformats.org/drawingml/2006/main">
              <a:ext uri="{FF2B5EF4-FFF2-40B4-BE49-F238E27FC236}">
                <a16:creationId xmlns:a16="http://schemas.microsoft.com/office/drawing/2014/main" id="{34F68D0A-FF42-472C-83F0-C54CC34F2FEB}"/>
              </a:ext>
            </a:extLst>
          </p:cNvPr>
          <p:cNvSpPr>
            <a:spLocks xmlns:a="http://schemas.openxmlformats.org/drawingml/2006/main" noGrp="1"/>
          </p:cNvSpPr>
          <p:nvPr/>
        </p:nvSpPr>
        <p:spPr>
          <a:xfrm xmlns:a="http://schemas.openxmlformats.org/drawingml/2006/main">
            <a:off x="6477000" y="16573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17824B"/>
                </a:solidFill>
                <a:latin typeface="Arial"/>
                <a:ea typeface="Arial"/>
                <a:cs typeface="Arial"/>
              </a:defRPr>
            </a:pPr>
            <a:r>
              <a:rPr sz="1575" b="1">
                <a:solidFill>
                  <a:srgbClr val="17824B"/>
                </a:solidFill>
                <a:latin typeface="Arial"/>
                <a:ea typeface="Arial"/>
                <a:cs typeface="Arial"/>
              </a:rPr>
              <a:t>APPROVED PREVIEW</a:t>
            </a:r>
          </a:p>
        </p:txBody>
      </p:sp>
      <p:sp>
        <p:nvSpPr>
          <p:cNvPr id="7" name="text-1h5bw6">
            <a:extLst xmlns:a="http://schemas.openxmlformats.org/drawingml/2006/main">
              <a:ext uri="{FF2B5EF4-FFF2-40B4-BE49-F238E27FC236}">
                <a16:creationId xmlns:a16="http://schemas.microsoft.com/office/drawing/2014/main" id="{8F0B441D-7FB8-4EE4-9135-EED0E52A2C1F}"/>
              </a:ext>
            </a:extLst>
          </p:cNvPr>
          <p:cNvSpPr>
            <a:spLocks xmlns:a="http://schemas.openxmlformats.org/drawingml/2006/main" noGrp="1"/>
          </p:cNvSpPr>
          <p:nvPr/>
        </p:nvSpPr>
        <p:spPr>
          <a:xfrm xmlns:a="http://schemas.openxmlformats.org/drawingml/2006/main">
            <a:off x="533400" y="23812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AI VETO</a:t>
            </a:r>
          </a:p>
        </p:txBody>
      </p:sp>
      <p:cxnSp>
        <p:nvCxnSpPr>
          <p:cNvPr id="30" name=""/>
          <p:cNvCxnSpPr/>
          <p:nvPr/>
        </p:nvCxnSpPr>
        <p:spPr>
          <a:xfrm xmlns:a="http://schemas.openxmlformats.org/drawingml/2006/main">
            <a:off x="3200400" y="2533650"/>
            <a:ext cx="2952750" cy="0"/>
          </a:xfrm>
          <a:prstGeom xmlns:a="http://schemas.openxmlformats.org/drawingml/2006/main" prst="straightConnector1">
            <a:avLst/>
          </a:prstGeom>
          <a:ln xmlns:a="http://schemas.openxmlformats.org/drawingml/2006/main" w="9525">
            <a:solidFill>
              <a:srgbClr val="B8C0C8"/>
            </a:solidFill>
            <a:prstDash val="solid"/>
          </a:ln>
        </p:spPr>
      </p:cxnSp>
      <p:sp>
        <p:nvSpPr>
          <p:cNvPr id="9" name="text-2pessv">
            <a:extLst xmlns:a="http://schemas.openxmlformats.org/drawingml/2006/main">
              <a:ext uri="{FF2B5EF4-FFF2-40B4-BE49-F238E27FC236}">
                <a16:creationId xmlns:a16="http://schemas.microsoft.com/office/drawing/2014/main" id="{D2A53EA9-6656-47E9-86BF-1D2C04762F31}"/>
              </a:ext>
            </a:extLst>
          </p:cNvPr>
          <p:cNvSpPr>
            <a:spLocks xmlns:a="http://schemas.openxmlformats.org/drawingml/2006/main" noGrp="1"/>
          </p:cNvSpPr>
          <p:nvPr/>
        </p:nvSpPr>
        <p:spPr>
          <a:xfrm xmlns:a="http://schemas.openxmlformats.org/drawingml/2006/main">
            <a:off x="6477000" y="2381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C73535"/>
                </a:solidFill>
                <a:latin typeface="Arial"/>
                <a:ea typeface="Arial"/>
                <a:cs typeface="Arial"/>
              </a:defRPr>
            </a:pPr>
            <a:r>
              <a:rPr sz="1575" b="1">
                <a:solidFill>
                  <a:srgbClr val="C73535"/>
                </a:solidFill>
                <a:latin typeface="Arial"/>
                <a:ea typeface="Arial"/>
                <a:cs typeface="Arial"/>
              </a:rPr>
              <a:t>ABSTAIN</a:t>
            </a:r>
          </a:p>
        </p:txBody>
      </p:sp>
      <p:sp>
        <p:nvSpPr>
          <p:cNvPr id="10" name="text-1cm59w">
            <a:extLst xmlns:a="http://schemas.openxmlformats.org/drawingml/2006/main">
              <a:ext uri="{FF2B5EF4-FFF2-40B4-BE49-F238E27FC236}">
                <a16:creationId xmlns:a16="http://schemas.microsoft.com/office/drawing/2014/main" id="{03A56B30-8EC8-45A8-A478-D84A8D6C6B96}"/>
              </a:ext>
            </a:extLst>
          </p:cNvPr>
          <p:cNvSpPr>
            <a:spLocks xmlns:a="http://schemas.openxmlformats.org/drawingml/2006/main" noGrp="1"/>
          </p:cNvSpPr>
          <p:nvPr/>
        </p:nvSpPr>
        <p:spPr>
          <a:xfrm xmlns:a="http://schemas.openxmlformats.org/drawingml/2006/main">
            <a:off x="533400" y="31051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STALE QUOTE</a:t>
            </a:r>
          </a:p>
        </p:txBody>
      </p:sp>
      <p:cxnSp>
        <p:nvCxnSpPr>
          <p:cNvPr id="33" name=""/>
          <p:cNvCxnSpPr/>
          <p:nvPr/>
        </p:nvCxnSpPr>
        <p:spPr>
          <a:xfrm xmlns:a="http://schemas.openxmlformats.org/drawingml/2006/main">
            <a:off x="3200400" y="3257550"/>
            <a:ext cx="2952750" cy="0"/>
          </a:xfrm>
          <a:prstGeom xmlns:a="http://schemas.openxmlformats.org/drawingml/2006/main" prst="straightConnector1">
            <a:avLst/>
          </a:prstGeom>
          <a:ln xmlns:a="http://schemas.openxmlformats.org/drawingml/2006/main" w="9525">
            <a:solidFill>
              <a:srgbClr val="B8C0C8"/>
            </a:solidFill>
            <a:prstDash val="solid"/>
          </a:ln>
        </p:spPr>
      </p:cxnSp>
      <p:sp>
        <p:nvSpPr>
          <p:cNvPr id="12" name="text-or5sro">
            <a:extLst xmlns:a="http://schemas.openxmlformats.org/drawingml/2006/main">
              <a:ext uri="{FF2B5EF4-FFF2-40B4-BE49-F238E27FC236}">
                <a16:creationId xmlns:a16="http://schemas.microsoft.com/office/drawing/2014/main" id="{0B2A0E9C-2F9D-4F19-801D-ADD1547EC6B9}"/>
              </a:ext>
            </a:extLst>
          </p:cNvPr>
          <p:cNvSpPr>
            <a:spLocks xmlns:a="http://schemas.openxmlformats.org/drawingml/2006/main" noGrp="1"/>
          </p:cNvSpPr>
          <p:nvPr/>
        </p:nvSpPr>
        <p:spPr>
          <a:xfrm xmlns:a="http://schemas.openxmlformats.org/drawingml/2006/main">
            <a:off x="6477000" y="31051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C73535"/>
                </a:solidFill>
                <a:latin typeface="Arial"/>
                <a:ea typeface="Arial"/>
                <a:cs typeface="Arial"/>
              </a:defRPr>
            </a:pPr>
            <a:r>
              <a:rPr sz="1575" b="1">
                <a:solidFill>
                  <a:srgbClr val="C73535"/>
                </a:solidFill>
                <a:latin typeface="Arial"/>
                <a:ea typeface="Arial"/>
                <a:cs typeface="Arial"/>
              </a:rPr>
              <a:t>ABSTAIN</a:t>
            </a:r>
          </a:p>
        </p:txBody>
      </p:sp>
      <p:sp>
        <p:nvSpPr>
          <p:cNvPr id="13" name="text-as4pj7">
            <a:extLst xmlns:a="http://schemas.openxmlformats.org/drawingml/2006/main">
              <a:ext uri="{FF2B5EF4-FFF2-40B4-BE49-F238E27FC236}">
                <a16:creationId xmlns:a16="http://schemas.microsoft.com/office/drawing/2014/main" id="{185AC704-96C0-48E0-AEB7-B43BB22F8B80}"/>
              </a:ext>
            </a:extLst>
          </p:cNvPr>
          <p:cNvSpPr>
            <a:spLocks xmlns:a="http://schemas.openxmlformats.org/drawingml/2006/main" noGrp="1"/>
          </p:cNvSpPr>
          <p:nvPr/>
        </p:nvSpPr>
        <p:spPr>
          <a:xfrm xmlns:a="http://schemas.openxmlformats.org/drawingml/2006/main">
            <a:off x="533400" y="3829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0B0D10"/>
                </a:solidFill>
                <a:latin typeface="Arial"/>
                <a:ea typeface="Arial"/>
                <a:cs typeface="Arial"/>
              </a:defRPr>
            </a:pPr>
            <a:r>
              <a:rPr sz="1575" b="1">
                <a:solidFill>
                  <a:srgbClr val="0B0D10"/>
                </a:solidFill>
                <a:latin typeface="Arial"/>
                <a:ea typeface="Arial"/>
                <a:cs typeface="Arial"/>
              </a:rPr>
              <a:t>WIDE SPREAD</a:t>
            </a:r>
          </a:p>
        </p:txBody>
      </p:sp>
      <p:cxnSp>
        <p:nvCxnSpPr>
          <p:cNvPr id="36" name=""/>
          <p:cNvCxnSpPr/>
          <p:nvPr/>
        </p:nvCxnSpPr>
        <p:spPr>
          <a:xfrm xmlns:a="http://schemas.openxmlformats.org/drawingml/2006/main">
            <a:off x="3200400" y="3981450"/>
            <a:ext cx="2952750" cy="0"/>
          </a:xfrm>
          <a:prstGeom xmlns:a="http://schemas.openxmlformats.org/drawingml/2006/main" prst="straightConnector1">
            <a:avLst/>
          </a:prstGeom>
          <a:ln xmlns:a="http://schemas.openxmlformats.org/drawingml/2006/main" w="9525">
            <a:solidFill>
              <a:srgbClr val="B8C0C8"/>
            </a:solidFill>
            <a:prstDash val="solid"/>
          </a:ln>
        </p:spPr>
      </p:cxnSp>
      <p:sp>
        <p:nvSpPr>
          <p:cNvPr id="15" name="text-a4o9e8">
            <a:extLst xmlns:a="http://schemas.openxmlformats.org/drawingml/2006/main">
              <a:ext uri="{FF2B5EF4-FFF2-40B4-BE49-F238E27FC236}">
                <a16:creationId xmlns:a16="http://schemas.microsoft.com/office/drawing/2014/main" id="{A74871AD-FBCB-4574-BD26-C3DC45807639}"/>
              </a:ext>
            </a:extLst>
          </p:cNvPr>
          <p:cNvSpPr>
            <a:spLocks xmlns:a="http://schemas.openxmlformats.org/drawingml/2006/main" noGrp="1"/>
          </p:cNvSpPr>
          <p:nvPr/>
        </p:nvSpPr>
        <p:spPr>
          <a:xfrm xmlns:a="http://schemas.openxmlformats.org/drawingml/2006/main">
            <a:off x="6477000" y="3829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C73535"/>
                </a:solidFill>
                <a:latin typeface="Arial"/>
                <a:ea typeface="Arial"/>
                <a:cs typeface="Arial"/>
              </a:defRPr>
            </a:pPr>
            <a:r>
              <a:rPr sz="1575" b="1">
                <a:solidFill>
                  <a:srgbClr val="C73535"/>
                </a:solidFill>
                <a:latin typeface="Arial"/>
                <a:ea typeface="Arial"/>
                <a:cs typeface="Arial"/>
              </a:rPr>
              <a:t>ABSTAIN</a:t>
            </a:r>
          </a:p>
        </p:txBody>
      </p:sp>
      <p:cxnSp>
        <p:nvCxnSpPr>
          <p:cNvPr id="38" name=""/>
          <p:cNvCxnSpPr/>
          <p:nvPr/>
        </p:nvCxnSpPr>
        <p:spPr>
          <a:xfrm xmlns:a="http://schemas.openxmlformats.org/drawingml/2006/main">
            <a:off x="9258300" y="1657350"/>
            <a:ext cx="0" cy="2781300"/>
          </a:xfrm>
          <a:prstGeom xmlns:a="http://schemas.openxmlformats.org/drawingml/2006/main" prst="straightConnector1">
            <a:avLst/>
          </a:prstGeom>
          <a:ln xmlns:a="http://schemas.openxmlformats.org/drawingml/2006/main" w="9525">
            <a:solidFill>
              <a:srgbClr val="B8C0C8"/>
            </a:solidFill>
            <a:prstDash val="solid"/>
          </a:ln>
        </p:spPr>
      </p:cxnSp>
      <p:sp>
        <p:nvSpPr>
          <p:cNvPr id="17" name="text-4w2z7q">
            <a:extLst xmlns:a="http://schemas.openxmlformats.org/drawingml/2006/main">
              <a:ext uri="{FF2B5EF4-FFF2-40B4-BE49-F238E27FC236}">
                <a16:creationId xmlns:a16="http://schemas.microsoft.com/office/drawing/2014/main" id="{F8D740B9-7BDF-4941-A379-082A0B1C474A}"/>
              </a:ext>
            </a:extLst>
          </p:cNvPr>
          <p:cNvSpPr>
            <a:spLocks xmlns:a="http://schemas.openxmlformats.org/drawingml/2006/main" noGrp="1"/>
          </p:cNvSpPr>
          <p:nvPr/>
        </p:nvSpPr>
        <p:spPr>
          <a:xfrm xmlns:a="http://schemas.openxmlformats.org/drawingml/2006/main">
            <a:off x="9734550" y="1771650"/>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225" b="1">
                <a:solidFill>
                  <a:srgbClr val="2F80ED"/>
                </a:solidFill>
                <a:latin typeface="Arial"/>
                <a:ea typeface="Arial"/>
                <a:cs typeface="Arial"/>
              </a:defRPr>
            </a:pPr>
            <a:r>
              <a:rPr sz="3225" b="1">
                <a:solidFill>
                  <a:srgbClr val="2F80ED"/>
                </a:solidFill>
                <a:latin typeface="Arial"/>
                <a:ea typeface="Arial"/>
                <a:cs typeface="Arial"/>
              </a:rPr>
              <a:t>24 / 24</a:t>
            </a:r>
          </a:p>
        </p:txBody>
      </p:sp>
      <p:sp>
        <p:nvSpPr>
          <p:cNvPr id="18" name="text-b5h22p">
            <a:extLst xmlns:a="http://schemas.openxmlformats.org/drawingml/2006/main">
              <a:ext uri="{FF2B5EF4-FFF2-40B4-BE49-F238E27FC236}">
                <a16:creationId xmlns:a16="http://schemas.microsoft.com/office/drawing/2014/main" id="{56E1DCFB-CCAB-44B4-9E88-A3DD29F55AF2}"/>
              </a:ext>
            </a:extLst>
          </p:cNvPr>
          <p:cNvSpPr>
            <a:spLocks xmlns:a="http://schemas.openxmlformats.org/drawingml/2006/main" noGrp="1"/>
          </p:cNvSpPr>
          <p:nvPr/>
        </p:nvSpPr>
        <p:spPr>
          <a:xfrm xmlns:a="http://schemas.openxmlformats.org/drawingml/2006/main">
            <a:off x="9734550" y="24765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automated tests</a:t>
            </a:r>
          </a:p>
        </p:txBody>
      </p:sp>
      <p:sp>
        <p:nvSpPr>
          <p:cNvPr id="19" name="text-mctjf3">
            <a:extLst xmlns:a="http://schemas.openxmlformats.org/drawingml/2006/main">
              <a:ext uri="{FF2B5EF4-FFF2-40B4-BE49-F238E27FC236}">
                <a16:creationId xmlns:a16="http://schemas.microsoft.com/office/drawing/2014/main" id="{CDE0EB69-9EDF-4570-9D67-73624359AA5C}"/>
              </a:ext>
            </a:extLst>
          </p:cNvPr>
          <p:cNvSpPr>
            <a:spLocks xmlns:a="http://schemas.openxmlformats.org/drawingml/2006/main" noGrp="1"/>
          </p:cNvSpPr>
          <p:nvPr/>
        </p:nvSpPr>
        <p:spPr>
          <a:xfrm xmlns:a="http://schemas.openxmlformats.org/drawingml/2006/main">
            <a:off x="9734550" y="3257550"/>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lgn="l">
              <a:defRPr sz="2850" b="1">
                <a:solidFill>
                  <a:srgbClr val="17824B"/>
                </a:solidFill>
                <a:latin typeface="Arial"/>
                <a:ea typeface="Arial"/>
                <a:cs typeface="Arial"/>
              </a:defRPr>
            </a:pPr>
            <a:r>
              <a:rPr sz="2850" b="1">
                <a:solidFill>
                  <a:srgbClr val="17824B"/>
                </a:solidFill>
                <a:latin typeface="Arial"/>
                <a:ea typeface="Arial"/>
                <a:cs typeface="Arial"/>
              </a:rPr>
              <a:t>VALID</a:t>
            </a:r>
          </a:p>
        </p:txBody>
      </p:sp>
      <p:sp>
        <p:nvSpPr>
          <p:cNvPr id="20" name="text-jmir0f">
            <a:extLst xmlns:a="http://schemas.openxmlformats.org/drawingml/2006/main">
              <a:ext uri="{FF2B5EF4-FFF2-40B4-BE49-F238E27FC236}">
                <a16:creationId xmlns:a16="http://schemas.microsoft.com/office/drawing/2014/main" id="{F8CA4979-E19B-4196-B1FF-C38489043F59}"/>
              </a:ext>
            </a:extLst>
          </p:cNvPr>
          <p:cNvSpPr>
            <a:spLocks xmlns:a="http://schemas.openxmlformats.org/drawingml/2006/main" noGrp="1"/>
          </p:cNvSpPr>
          <p:nvPr/>
        </p:nvSpPr>
        <p:spPr>
          <a:xfrm xmlns:a="http://schemas.openxmlformats.org/drawingml/2006/main">
            <a:off x="9734550" y="37909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B6470"/>
                </a:solidFill>
                <a:latin typeface="Arial"/>
                <a:ea typeface="Arial"/>
                <a:cs typeface="Arial"/>
              </a:defRPr>
            </a:pPr>
            <a:r>
              <a:rPr sz="1350" b="0">
                <a:solidFill>
                  <a:srgbClr val="5B6470"/>
                </a:solidFill>
                <a:latin typeface="Arial"/>
                <a:ea typeface="Arial"/>
                <a:cs typeface="Arial"/>
              </a:rPr>
              <a:t>hash chain</a:t>
            </a:r>
          </a:p>
        </p:txBody>
      </p:sp>
      <p:sp>
        <p:nvSpPr>
          <p:cNvPr id="21" name="box-nu6wzo">
            <a:extLst xmlns:a="http://schemas.openxmlformats.org/drawingml/2006/main">
              <a:ext uri="{FF2B5EF4-FFF2-40B4-BE49-F238E27FC236}">
                <a16:creationId xmlns:a16="http://schemas.microsoft.com/office/drawing/2014/main" id="{914DCF3E-A430-4230-B8EE-F3646EDEA226}"/>
              </a:ext>
            </a:extLst>
          </p:cNvPr>
          <p:cNvSpPr>
            <a:spLocks xmlns:a="http://schemas.openxmlformats.org/drawingml/2006/main" noGrp="1"/>
          </p:cNvSpPr>
          <p:nvPr/>
        </p:nvSpPr>
        <p:spPr>
          <a:xfrm xmlns:a="http://schemas.openxmlformats.org/drawingml/2006/main">
            <a:off x="533400" y="5219700"/>
            <a:ext cx="11010900" cy="781050"/>
          </a:xfrm>
          <a:prstGeom xmlns:a="http://schemas.openxmlformats.org/drawingml/2006/main" prst="rect">
            <a:avLst/>
          </a:prstGeom>
          <a:solidFill xmlns:a="http://schemas.openxmlformats.org/drawingml/2006/main">
            <a:srgbClr val="DCEEFF"/>
          </a:solidFill>
          <a:ln xmlns:a="http://schemas.openxmlformats.org/drawingml/2006/main" w="9525">
            <a:solidFill>
              <a:srgbClr val="2F80ED"/>
            </a:solidFill>
            <a:prstDash val="solid"/>
          </a:ln>
        </p:spPr>
      </p:sp>
      <p:sp>
        <p:nvSpPr>
          <p:cNvPr id="22" name="text-63z8yg">
            <a:extLst xmlns:a="http://schemas.openxmlformats.org/drawingml/2006/main">
              <a:ext uri="{FF2B5EF4-FFF2-40B4-BE49-F238E27FC236}">
                <a16:creationId xmlns:a16="http://schemas.microsoft.com/office/drawing/2014/main" id="{D5B26D72-0CC7-47FB-91FF-15C981236A4E}"/>
              </a:ext>
            </a:extLst>
          </p:cNvPr>
          <p:cNvSpPr>
            <a:spLocks xmlns:a="http://schemas.openxmlformats.org/drawingml/2006/main" noGrp="1"/>
          </p:cNvSpPr>
          <p:nvPr/>
        </p:nvSpPr>
        <p:spPr>
          <a:xfrm xmlns:a="http://schemas.openxmlformats.org/drawingml/2006/main">
            <a:off x="819150" y="5429250"/>
            <a:ext cx="1043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p xmlns:a="http://schemas.openxmlformats.org/drawingml/2006/main">
            <a:pPr algn="ctr">
              <a:defRPr sz="2100" b="1">
                <a:solidFill>
                  <a:srgbClr val="2F80ED"/>
                </a:solidFill>
                <a:latin typeface="Arial"/>
                <a:ea typeface="Arial"/>
                <a:cs typeface="Arial"/>
              </a:defRPr>
            </a:pPr>
            <a:r>
              <a:rPr sz="2100" b="1">
                <a:solidFill>
                  <a:srgbClr val="2F80ED"/>
                </a:solidFill>
                <a:latin typeface="Arial"/>
                <a:ea typeface="Arial"/>
                <a:cs typeface="Arial"/>
              </a:rPr>
              <a:t>Not a promise of returns — a verifiable boundary for financial AI.</a:t>
            </a:r>
          </a:p>
        </p:txBody>
      </p:sp>
    </p:spTree>
    <p:extLst>
      <p:ext uri="{BB962C8B-B14F-4D97-AF65-F5344CB8AC3E}">
        <p14:creationId xmlns:p14="http://schemas.microsoft.com/office/powerpoint/2010/main" val="17226289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2026-09-01T05:16:51.8440000Z</dcterms:created>
  <dcterms:modified xsi:type="dcterms:W3CDTF">2026-09-01T05:16:51.8440000Z</dcterms:modified>
</coreProperties>
</file>